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(~25s)</a:t>
            </a:r>
          </a:p>
          <a:p>
            <a:r>
              <a:t>“One company, one day, two answers. Its ESG grade puts it in the bottom fifth of this basket. Fourteen dated sources — filings, exchange notices, news — say it's the fastest improver in the same basket. Neither of those is made up. Only one of them is current. So we built the thing that tells you which, and shows you the sources.”</a:t>
            </a:r>
          </a:p>
          <a:p/>
          <a:p>
            <a:r>
              <a:t>IF PUSHED — “is the rating just wrong?”</a:t>
            </a:r>
          </a:p>
          <a:p>
            <a:r>
              <a:t>“Not wrong, just late. It's a level, and the file closed months ago. We're not replacing it — we're putting a second opinion next to it with a date on every claim.”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(~35s)</a:t>
            </a:r>
          </a:p>
          <a:p>
            <a:r>
              <a:t>“ESG momentum works — this basket beat the index by nearly fifty points over four years. Here's the other half, from the same research note: it's down 4.6% against the index this year, and a single ESG improver only beats the index about three times in ten at one year. So the question isn't whether ESG pays. It's that a rating gives you a level, and a level can't tell you which way anything is moving. That's the gap we went after.”</a:t>
            </a:r>
          </a:p>
          <a:p/>
          <a:p>
            <a:r>
              <a:t>IF PUSHED — “why put your own bad number up?”</a:t>
            </a:r>
          </a:p>
          <a:p>
            <a:r>
              <a:t>“Because it's in our own source document. Anyone who opens that note finds it in ten seconds, and then nothing else we said counts. Cheaper to say it first.”</a:t>
            </a:r>
          </a:p>
          <a:p/>
          <a:p>
            <a:r>
              <a:t>Rule: the −4.6% goes in the same breath as the 55.1%, every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(~35s)</a:t>
            </a:r>
          </a:p>
          <a:p>
            <a:r>
              <a:t>“Three things it does. It asks first — four short questions, and every answer actually changes what's on the board, so it's not a survey. It pushes back: give it something vague and you get the question back, sharper. And it competes — it takes a position against a named rating using dated evidence, and shows the working. Twenty-four times out of fifty-two we just agree with the rating, and we say so. Four times we think the rating is behind. Two companies are rated well while their evidence gets worse, and that quadrant is why this is an argument and not another ranking.”</a:t>
            </a:r>
          </a:p>
          <a:p/>
          <a:p>
            <a:r>
              <a:t>IF PUSHED — “so it's a stock picker?”</a:t>
            </a:r>
          </a:p>
          <a:p>
            <a:r>
              <a:t>“No. It doesn't rank anything for investment and it never recommends. It says we disagree with this rating, here's the dated evidence. Blend that into one number and none of us could tell you what the number means.”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ORDER — six clicks, no hunting. Real basket, not Demo.</a:t>
            </a:r>
          </a:p>
          <a:p/>
          <a:p>
            <a:r>
              <a:t>0:00 board · 0:15 matrix · 0:30 RHB chip · 0:45 evidence trail + one source link · 1:05 sensitivity · 1:20 verify.</a:t>
            </a:r>
          </a:p>
          <a:p/>
          <a:p>
            <a:r>
              <a:t>HELD IN RESERVE for Q&amp;A: Tamper demo — change one character of one excerpt, the check flips to NO MATCH in about five seconds. That failure IS the feature.</a:t>
            </a:r>
          </a:p>
          <a:p/>
          <a:p>
            <a:r>
              <a:t>FAILURE MODES: no network → verification still runs locally and reports anchor_pending; never say 'anchored' when the chip says pending. A filter with nothing in it → say so: 'no name clears Conservative today' is a legitimate answer, and the counts prove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(~45s)</a:t>
            </a:r>
          </a:p>
          <a:p>
            <a:r>
              <a:t>“Two things hold this up. First, the model never scores anything — it reads, the rules score. Same files in, same answer out, and the test suite fails the build if that stops being true. Second, and this is the one I'd poke at if I were you: our top bar returned zero companies for weeks. The tempting fix is to lower it. Instead we wrote down, before the sweep ran, when we're allowed to move a threshold at all — you can move it for a reason you can argue without mentioning the answer, never because you don't like the answer. Then we went and found better sources. Four names crossed. Nobody touched a threshold. And the one we got wrong — Adaro, 2023 — is still in the backtest, because a backtest you can only pass isn't worth much.”</a:t>
            </a:r>
          </a:p>
          <a:p/>
          <a:p>
            <a:r>
              <a:t>IF PUSHED — “a bug could still be hiding in there”</a:t>
            </a:r>
          </a:p>
          <a:p>
            <a:r>
              <a:t>“One was, and it's written up. The model read target years as publication dates — 'net zero by 2050' came back dated 2050. That quietly decayed every company's momentum to zero while the signal counts still looked completely normal. Nothing crashed, nothing flagged. So now anything dated later than the basket's own cut-off gets dropped, and we can re-run the filters over evidence we already have without fetching it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(~35s)</a:t>
            </a:r>
          </a:p>
          <a:p>
            <a:r>
              <a:t>“Three separations do the work. The model reads and the rules score, so a verdict can't be a hallucination — and scoring costs nothing in tokens, because there's no model in it. The ESG side and the money side never get averaged: UOB is rated behind its evidence and its earnings are down 22.6%, and you can see both because we refused to merge them. And the chain-based ESG platforms people compare us to are issuer-side — a company evidencing its own claims. We're at the other end of that pipe. A company's own press release is the least trusted thing we hold.”</a:t>
            </a:r>
          </a:p>
          <a:p/>
          <a:p>
            <a:r>
              <a:t>IF PUSHED — “what's the blockchain actually for?”</a:t>
            </a:r>
          </a:p>
          <a:p>
            <a:r>
              <a:t>“It's the receipt, not the check. A chain can't verify anything that happened off it — make a false claim immutable and all you've got is a permanent false claim. The checking is done by rules you can read. The chain just proves the verdict you saw was built on the evidence we said it was.”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(~40s)</a:t>
            </a:r>
          </a:p>
          <a:p>
            <a:r>
              <a:t>“The economics are odd, because of how it's built. Scoring is rules, not a model, so it costs nothing. All the AI spend is in gathering, and it's charged per sweep of a company rather than per signal — about eight cents a company a year, four dollars for the whole basket. The entire prototype cost a hundred and eighteen Singapore dollars. What I'm not going to show you is a falling cost-per-company curve. Inference is linear, so that line only bends once a data licence gets spread across clients, and we don't have a quote yet. Two cells on that slide are blank on purpose — a made-up number in a cost model is worse than an empty one, because nobody asks about a number that looks plausible.”</a:t>
            </a:r>
          </a:p>
          <a:p/>
          <a:p>
            <a:r>
              <a:t>IF PUSHED — “what would you do with support?”</a:t>
            </a:r>
          </a:p>
          <a:p>
            <a:r>
              <a:t>“Better sources, not more of them. Regulator actions, exchange filings, index-provider decisions — the things that aren't press releases. That's the ceiling on how confident this can get, and it's a procurement problem, not an engineering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(~30s)</a:t>
            </a:r>
          </a:p>
          <a:p>
            <a:r>
              <a:t>“The limits, up front. We read documents, not sensors — no satellites, no meters on anything. Most of what a public search gives you is written by the companies themselves, and we cap how much that can ever count, which is exactly why the top quadrant has four names in it and not forty. Two companies have no evidence at all, and we draw the hole instead of filling it. Eleven are financially weak and we say so — you'll only believe the seventeen strong ones if we didn't quietly drop the weak ones.”</a:t>
            </a:r>
          </a:p>
          <a:p/>
          <a:p>
            <a:r>
              <a:t>IF PUSHED — “only four? that's thin”</a:t>
            </a:r>
          </a:p>
          <a:p>
            <a:r>
              <a:t>“It is thin, and it's what the rules gave us. A screen that returns a third of the universe isn't a screen. More names means better sources, not a lower bar — drop the bar and 'rated behind the evidence' starts to mean 'we found a lot of press releases', which is exactly how the Adaro case went wrong.”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SAY (~25s)</a:t>
            </a:r>
          </a:p>
          <a:p>
            <a:r>
              <a:t>“Fifty-two companies. Three hundred and ninety-one dated sources. Eight cents a company a year. And zero thresholds moved to get there — we fixed the bar before we had the evidence, and the names showed up because we found better sources, not a smaller number. All of it rebuilds from that run id on your laptop, offline. It won't tell you what to buy. It'll tell you where the market's view and the evidence disagree, and what would change its mind.”</a:t>
            </a:r>
          </a:p>
          <a:p/>
          <a:p>
            <a:r>
              <a:t>Running long? Cut the third sentence. The rest is doing work.</a:t>
            </a:r>
          </a:p>
          <a:p/>
          <a:p>
            <a:r>
              <a:t>Never: buy · sell · hold · “our score”. Never 55.1% without −4.6%. Never 29.4% without CGSI's three filters.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01</a:t>
            </a:r>
            <a:r>
              <a:rPr sz="1000" b="0" spc="100">
                <a:solidFill>
                  <a:srgbClr val="B6BEC4"/>
                </a:solidFill>
                <a:latin typeface="IBM Plex Mono"/>
              </a:rPr>
              <a:t>   /   </a:t>
            </a:r>
            <a:r>
              <a:rPr sz="1000" b="1" spc="130">
                <a:solidFill>
                  <a:srgbClr val="12151A"/>
                </a:solidFill>
                <a:latin typeface="IBM Plex Sans"/>
              </a:rPr>
              <a:t>HOOK</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RHB Bank, Malaysia. Both readings are defensible. Only one of them is current.</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01</a:t>
            </a:r>
          </a:p>
        </p:txBody>
      </p:sp>
      <p:sp>
        <p:nvSpPr>
          <p:cNvPr id="9" name="TextBox 8"/>
          <p:cNvSpPr txBox="1"/>
          <p:nvPr/>
        </p:nvSpPr>
        <p:spPr>
          <a:xfrm>
            <a:off x="713232" y="914400"/>
            <a:ext cx="10765231" cy="1735697"/>
          </a:xfrm>
          <a:prstGeom prst="rect">
            <a:avLst/>
          </a:prstGeom>
          <a:noFill/>
        </p:spPr>
        <p:txBody>
          <a:bodyPr wrap="square" lIns="0" rIns="0" tIns="0" bIns="0">
            <a:spAutoFit/>
          </a:bodyPr>
          <a:lstStyle/>
          <a:p>
            <a:pPr algn="l">
              <a:lnSpc>
                <a:spcPct val="100000"/>
              </a:lnSpc>
            </a:pPr>
            <a:r>
              <a:rPr sz="4600" b="1" spc="-55">
                <a:solidFill>
                  <a:srgbClr val="12151A"/>
                </a:solidFill>
                <a:latin typeface="IBM Plex Sans Condensed"/>
              </a:rPr>
              <a:t>Same company. Same day.</a:t>
            </a:r>
          </a:p>
          <a:p>
            <a:pPr algn="l">
              <a:lnSpc>
                <a:spcPct val="100000"/>
              </a:lnSpc>
            </a:pPr>
            <a:r>
              <a:rPr sz="4600" b="1" spc="-55">
                <a:solidFill>
                  <a:srgbClr val="0F5132"/>
                </a:solidFill>
                <a:latin typeface="IBM Plex Sans Condensed"/>
              </a:rPr>
              <a:t>Two different answers.</a:t>
            </a:r>
          </a:p>
        </p:txBody>
      </p:sp>
      <p:sp>
        <p:nvSpPr>
          <p:cNvPr id="10" name="TextBox 9"/>
          <p:cNvSpPr txBox="1"/>
          <p:nvPr/>
        </p:nvSpPr>
        <p:spPr>
          <a:xfrm>
            <a:off x="713232" y="2359152"/>
            <a:ext cx="9692640" cy="914400"/>
          </a:xfrm>
          <a:prstGeom prst="rect">
            <a:avLst/>
          </a:prstGeom>
          <a:noFill/>
        </p:spPr>
        <p:txBody>
          <a:bodyPr wrap="square" lIns="0" rIns="0" tIns="0" bIns="0">
            <a:spAutoFit/>
          </a:bodyPr>
          <a:lstStyle/>
          <a:p>
            <a:pPr algn="l">
              <a:lnSpc>
                <a:spcPct val="136000"/>
              </a:lnSpc>
            </a:pPr>
            <a:r>
              <a:rPr sz="1550" b="0">
                <a:solidFill>
                  <a:srgbClr val="4B5563"/>
                </a:solidFill>
                <a:latin typeface="IBM Plex Sans"/>
              </a:rPr>
              <a:t>Its published ESG grade puts it in the bottom fifth of its own basket. Fourteen dated filings, exchange notices and news items say it is the fastest-improving name in it.</a:t>
            </a:r>
          </a:p>
        </p:txBody>
      </p:sp>
      <p:sp>
        <p:nvSpPr>
          <p:cNvPr id="11" name="Rectangle 10"/>
          <p:cNvSpPr/>
          <p:nvPr/>
        </p:nvSpPr>
        <p:spPr>
          <a:xfrm>
            <a:off x="3090672" y="4443984"/>
            <a:ext cx="6010351" cy="25400"/>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12948" y="4379061"/>
            <a:ext cx="155448" cy="1554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023299" y="4379061"/>
            <a:ext cx="155448" cy="155448"/>
          </a:xfrm>
          <a:prstGeom prst="ellipse">
            <a:avLst/>
          </a:prstGeom>
          <a:solidFill>
            <a:srgbClr val="1A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3483864"/>
            <a:ext cx="6010351" cy="822960"/>
          </a:xfrm>
          <a:prstGeom prst="rect">
            <a:avLst/>
          </a:prstGeom>
          <a:noFill/>
        </p:spPr>
        <p:txBody>
          <a:bodyPr wrap="square" lIns="0" rIns="0" tIns="0" bIns="0">
            <a:spAutoFit/>
          </a:bodyPr>
          <a:lstStyle/>
          <a:p>
            <a:pPr algn="ctr"/>
            <a:r>
              <a:rPr sz="4600" b="1" spc="-160">
                <a:solidFill>
                  <a:srgbClr val="1A7F4F"/>
                </a:solidFill>
                <a:latin typeface="IBM Plex Mono"/>
              </a:rPr>
              <a:t>+0.80</a:t>
            </a:r>
          </a:p>
          <a:p>
            <a:pPr algn="ctr"/>
            <a:r>
              <a:rPr sz="1000" b="1" spc="120">
                <a:solidFill>
                  <a:srgbClr val="767F89"/>
                </a:solidFill>
                <a:latin typeface="IBM Plex Sans"/>
              </a:rPr>
              <a:t>DISAGREEMENT</a:t>
            </a:r>
          </a:p>
        </p:txBody>
      </p:sp>
      <p:sp>
        <p:nvSpPr>
          <p:cNvPr id="15" name="TextBox 14"/>
          <p:cNvSpPr txBox="1"/>
          <p:nvPr/>
        </p:nvSpPr>
        <p:spPr>
          <a:xfrm>
            <a:off x="713232" y="4718304"/>
            <a:ext cx="2651760" cy="1005840"/>
          </a:xfrm>
          <a:prstGeom prst="rect">
            <a:avLst/>
          </a:prstGeom>
          <a:noFill/>
        </p:spPr>
        <p:txBody>
          <a:bodyPr wrap="square" lIns="0" rIns="0" tIns="0" bIns="0">
            <a:spAutoFit/>
          </a:bodyPr>
          <a:lstStyle/>
          <a:p>
            <a:pPr algn="l"/>
            <a:r>
              <a:rPr sz="1050" b="1" spc="60">
                <a:solidFill>
                  <a:srgbClr val="1D4ED8"/>
                </a:solidFill>
                <a:latin typeface="IBM Plex Sans"/>
              </a:rPr>
              <a:t>ITS RATING SAYS</a:t>
            </a:r>
          </a:p>
          <a:p>
            <a:pPr algn="l">
              <a:spcBef>
                <a:spcPts val="400"/>
              </a:spcBef>
            </a:pPr>
            <a:r>
              <a:rPr sz="2100" b="1" spc="-60">
                <a:solidFill>
                  <a:srgbClr val="12151A"/>
                </a:solidFill>
                <a:latin typeface="IBM Plex Mono"/>
              </a:rPr>
              <a:t>18th</a:t>
            </a:r>
            <a:r>
              <a:rPr sz="1200" b="0">
                <a:solidFill>
                  <a:srgbClr val="767F89"/>
                </a:solidFill>
                <a:latin typeface="IBM Plex Sans"/>
              </a:rPr>
              <a:t>  of 52</a:t>
            </a:r>
          </a:p>
          <a:p>
            <a:pPr algn="l">
              <a:spcBef>
                <a:spcPts val="300"/>
              </a:spcBef>
            </a:pPr>
            <a:r>
              <a:rPr sz="1050" b="0">
                <a:solidFill>
                  <a:srgbClr val="767F89"/>
                </a:solidFill>
                <a:latin typeface="IBM Plex Sans"/>
              </a:rPr>
              <a:t>grade BB · bottom fifth</a:t>
            </a:r>
          </a:p>
        </p:txBody>
      </p:sp>
      <p:sp>
        <p:nvSpPr>
          <p:cNvPr id="16" name="TextBox 15"/>
          <p:cNvSpPr txBox="1"/>
          <p:nvPr/>
        </p:nvSpPr>
        <p:spPr>
          <a:xfrm>
            <a:off x="8369503" y="4718304"/>
            <a:ext cx="3108960" cy="1005840"/>
          </a:xfrm>
          <a:prstGeom prst="rect">
            <a:avLst/>
          </a:prstGeom>
          <a:noFill/>
        </p:spPr>
        <p:txBody>
          <a:bodyPr wrap="square" lIns="0" rIns="0" tIns="0" bIns="0">
            <a:spAutoFit/>
          </a:bodyPr>
          <a:lstStyle/>
          <a:p>
            <a:pPr algn="r"/>
            <a:r>
              <a:rPr sz="1050" b="1" spc="60">
                <a:solidFill>
                  <a:srgbClr val="1A7F4F"/>
                </a:solidFill>
                <a:latin typeface="IBM Plex Sans"/>
              </a:rPr>
              <a:t>THE EVIDENCE SAYS</a:t>
            </a:r>
          </a:p>
          <a:p>
            <a:pPr algn="r">
              <a:spcBef>
                <a:spcPts val="400"/>
              </a:spcBef>
            </a:pPr>
            <a:r>
              <a:rPr sz="2100" b="1" spc="-60">
                <a:solidFill>
                  <a:srgbClr val="12151A"/>
                </a:solidFill>
                <a:latin typeface="IBM Plex Mono"/>
              </a:rPr>
              <a:t>98th</a:t>
            </a:r>
            <a:r>
              <a:rPr sz="1200" b="0">
                <a:solidFill>
                  <a:srgbClr val="767F89"/>
                </a:solidFill>
                <a:latin typeface="IBM Plex Sans"/>
              </a:rPr>
              <a:t>  percentile</a:t>
            </a:r>
          </a:p>
          <a:p>
            <a:pPr algn="r">
              <a:spcBef>
                <a:spcPts val="300"/>
              </a:spcBef>
            </a:pPr>
            <a:r>
              <a:rPr sz="1050" b="0">
                <a:solidFill>
                  <a:srgbClr val="767F89"/>
                </a:solidFill>
                <a:latin typeface="IBM Plex Sans"/>
              </a:rPr>
              <a:t>14 dated sources · 2023–2026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02</a:t>
            </a:r>
            <a:r>
              <a:rPr sz="1000" b="0" spc="100">
                <a:solidFill>
                  <a:srgbClr val="B6BEC4"/>
                </a:solidFill>
                <a:latin typeface="IBM Plex Mono"/>
              </a:rPr>
              <a:t>   /   </a:t>
            </a:r>
            <a:r>
              <a:rPr sz="1000" b="1" spc="130">
                <a:solidFill>
                  <a:srgbClr val="12151A"/>
                </a:solidFill>
                <a:latin typeface="IBM Plex Sans"/>
              </a:rPr>
              <a:t>PROBLEM</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Basket vs MSCI AC ASEAN, Jan 2021 – 28 Aug 2025, and the same note's YTD figure. Source: CGSI, ESG momentum as an Alpha selection tool, 29 Aug 2025.</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02</a:t>
            </a:r>
          </a:p>
        </p:txBody>
      </p:sp>
      <p:sp>
        <p:nvSpPr>
          <p:cNvPr id="9" name="TextBox 8"/>
          <p:cNvSpPr txBox="1"/>
          <p:nvPr/>
        </p:nvSpPr>
        <p:spPr>
          <a:xfrm>
            <a:off x="713232" y="914400"/>
            <a:ext cx="10765231" cy="913568"/>
          </a:xfrm>
          <a:prstGeom prst="rect">
            <a:avLst/>
          </a:prstGeom>
          <a:noFill/>
        </p:spPr>
        <p:txBody>
          <a:bodyPr wrap="square" lIns="0" rIns="0" tIns="0" bIns="0">
            <a:spAutoFit/>
          </a:bodyPr>
          <a:lstStyle/>
          <a:p>
            <a:pPr algn="l">
              <a:lnSpc>
                <a:spcPct val="100000"/>
              </a:lnSpc>
            </a:pPr>
            <a:r>
              <a:rPr sz="4600" b="1" spc="-55">
                <a:solidFill>
                  <a:srgbClr val="12151A"/>
                </a:solidFill>
                <a:latin typeface="IBM Plex Sans Condensed"/>
              </a:rPr>
              <a:t>A rating tells you where a company </a:t>
            </a:r>
            <a:r>
              <a:rPr sz="4600" b="1" spc="-55">
                <a:solidFill>
                  <a:srgbClr val="0F5132"/>
                </a:solidFill>
                <a:latin typeface="IBM Plex Sans Condensed"/>
              </a:rPr>
              <a:t>stood.</a:t>
            </a:r>
          </a:p>
        </p:txBody>
      </p:sp>
      <p:sp>
        <p:nvSpPr>
          <p:cNvPr id="10" name="TextBox 9"/>
          <p:cNvSpPr txBox="1"/>
          <p:nvPr/>
        </p:nvSpPr>
        <p:spPr>
          <a:xfrm>
            <a:off x="713232" y="1645920"/>
            <a:ext cx="9692640" cy="914400"/>
          </a:xfrm>
          <a:prstGeom prst="rect">
            <a:avLst/>
          </a:prstGeom>
          <a:noFill/>
        </p:spPr>
        <p:txBody>
          <a:bodyPr wrap="square" lIns="0" rIns="0" tIns="0" bIns="0">
            <a:spAutoFit/>
          </a:bodyPr>
          <a:lstStyle/>
          <a:p>
            <a:pPr algn="l">
              <a:lnSpc>
                <a:spcPct val="136000"/>
              </a:lnSpc>
            </a:pPr>
            <a:r>
              <a:rPr sz="1550" b="0">
                <a:solidFill>
                  <a:srgbClr val="4B5563"/>
                </a:solidFill>
                <a:latin typeface="IBM Plex Sans"/>
              </a:rPr>
              <a:t>Not which way it is moving, and not what would change the answer. ESG momentum is a real edge — here is the half its own author reports too.</a:t>
            </a:r>
          </a:p>
        </p:txBody>
      </p:sp>
      <p:sp>
        <p:nvSpPr>
          <p:cNvPr id="11" name="Rectangle 10"/>
          <p:cNvSpPr/>
          <p:nvPr/>
        </p:nvSpPr>
        <p:spPr>
          <a:xfrm>
            <a:off x="713232" y="2395728"/>
            <a:ext cx="10765231" cy="1524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542032"/>
            <a:ext cx="3200400" cy="640080"/>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A level, published late</a:t>
            </a:r>
          </a:p>
        </p:txBody>
      </p:sp>
      <p:sp>
        <p:nvSpPr>
          <p:cNvPr id="13" name="TextBox 12"/>
          <p:cNvSpPr txBox="1"/>
          <p:nvPr/>
        </p:nvSpPr>
        <p:spPr>
          <a:xfrm>
            <a:off x="4187952" y="2542032"/>
            <a:ext cx="7290511" cy="640080"/>
          </a:xfrm>
          <a:prstGeom prst="rect">
            <a:avLst/>
          </a:prstGeom>
          <a:noFill/>
        </p:spPr>
        <p:txBody>
          <a:bodyPr wrap="square" lIns="0" rIns="0" tIns="0" bIns="0">
            <a:spAutoFit/>
          </a:bodyPr>
          <a:lstStyle/>
          <a:p>
            <a:pPr algn="l">
              <a:lnSpc>
                <a:spcPct val="130000"/>
              </a:lnSpc>
            </a:pPr>
            <a:r>
              <a:rPr sz="1260" b="0">
                <a:solidFill>
                  <a:srgbClr val="4B5563"/>
                </a:solidFill>
                <a:latin typeface="IBM Plex Sans"/>
              </a:rPr>
              <a:t>A score in a file closed months ago, refreshed on the rater's cycle — not the company's.</a:t>
            </a:r>
          </a:p>
        </p:txBody>
      </p:sp>
      <p:sp>
        <p:nvSpPr>
          <p:cNvPr id="14" name="Rectangle 13"/>
          <p:cNvSpPr/>
          <p:nvPr/>
        </p:nvSpPr>
        <p:spPr>
          <a:xfrm>
            <a:off x="713232" y="3072384"/>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182112"/>
            <a:ext cx="3200400" cy="640080"/>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No direction</a:t>
            </a:r>
          </a:p>
        </p:txBody>
      </p:sp>
      <p:sp>
        <p:nvSpPr>
          <p:cNvPr id="16" name="TextBox 15"/>
          <p:cNvSpPr txBox="1"/>
          <p:nvPr/>
        </p:nvSpPr>
        <p:spPr>
          <a:xfrm>
            <a:off x="4187952" y="3182112"/>
            <a:ext cx="7290511" cy="640080"/>
          </a:xfrm>
          <a:prstGeom prst="rect">
            <a:avLst/>
          </a:prstGeom>
          <a:noFill/>
        </p:spPr>
        <p:txBody>
          <a:bodyPr wrap="square" lIns="0" rIns="0" tIns="0" bIns="0">
            <a:spAutoFit/>
          </a:bodyPr>
          <a:lstStyle/>
          <a:p>
            <a:pPr algn="l">
              <a:lnSpc>
                <a:spcPct val="130000"/>
              </a:lnSpc>
            </a:pPr>
            <a:r>
              <a:rPr sz="1260" b="0">
                <a:solidFill>
                  <a:srgbClr val="4B5563"/>
                </a:solidFill>
                <a:latin typeface="IBM Plex Sans"/>
              </a:rPr>
              <a:t>Nothing in the number tells you whether the company is improving or deteriorating right now.</a:t>
            </a:r>
          </a:p>
        </p:txBody>
      </p:sp>
      <p:sp>
        <p:nvSpPr>
          <p:cNvPr id="17" name="Rectangle 16"/>
          <p:cNvSpPr/>
          <p:nvPr/>
        </p:nvSpPr>
        <p:spPr>
          <a:xfrm>
            <a:off x="713232" y="3712464"/>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822192"/>
            <a:ext cx="3200400" cy="640080"/>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Not challengeable</a:t>
            </a:r>
          </a:p>
        </p:txBody>
      </p:sp>
      <p:sp>
        <p:nvSpPr>
          <p:cNvPr id="19" name="TextBox 18"/>
          <p:cNvSpPr txBox="1"/>
          <p:nvPr/>
        </p:nvSpPr>
        <p:spPr>
          <a:xfrm>
            <a:off x="4187952" y="3822192"/>
            <a:ext cx="7290511" cy="640080"/>
          </a:xfrm>
          <a:prstGeom prst="rect">
            <a:avLst/>
          </a:prstGeom>
          <a:noFill/>
        </p:spPr>
        <p:txBody>
          <a:bodyPr wrap="square" lIns="0" rIns="0" tIns="0" bIns="0">
            <a:spAutoFit/>
          </a:bodyPr>
          <a:lstStyle/>
          <a:p>
            <a:pPr algn="l">
              <a:lnSpc>
                <a:spcPct val="130000"/>
              </a:lnSpc>
            </a:pPr>
            <a:r>
              <a:rPr sz="1260" b="0">
                <a:solidFill>
                  <a:srgbClr val="4B5563"/>
                </a:solidFill>
                <a:latin typeface="IBM Plex Sans"/>
              </a:rPr>
              <a:t>You cannot ask a rating which piece of evidence is holding it up, or what would change it.</a:t>
            </a:r>
          </a:p>
        </p:txBody>
      </p:sp>
      <p:sp>
        <p:nvSpPr>
          <p:cNvPr id="20" name="Rectangle 19"/>
          <p:cNvSpPr/>
          <p:nvPr/>
        </p:nvSpPr>
        <p:spPr>
          <a:xfrm>
            <a:off x="713232" y="4352544"/>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484632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029200"/>
            <a:ext cx="3277514" cy="457200"/>
          </a:xfrm>
          <a:prstGeom prst="rect">
            <a:avLst/>
          </a:prstGeom>
          <a:noFill/>
        </p:spPr>
        <p:txBody>
          <a:bodyPr wrap="square" lIns="0" rIns="0" tIns="0" bIns="0">
            <a:spAutoFit/>
          </a:bodyPr>
          <a:lstStyle/>
          <a:p>
            <a:pPr algn="l"/>
            <a:r>
              <a:rPr sz="3100" b="1" spc="-40">
                <a:solidFill>
                  <a:srgbClr val="1A7F4F"/>
                </a:solidFill>
                <a:latin typeface="IBM Plex Mono"/>
              </a:rPr>
              <a:t>+55.1%</a:t>
            </a:r>
          </a:p>
        </p:txBody>
      </p:sp>
      <p:sp>
        <p:nvSpPr>
          <p:cNvPr id="23" name="TextBox 22"/>
          <p:cNvSpPr txBox="1"/>
          <p:nvPr/>
        </p:nvSpPr>
        <p:spPr>
          <a:xfrm>
            <a:off x="713232" y="5532628"/>
            <a:ext cx="3277514"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the basket, cumulative — against +6.4% for MSCI AC ASEAN</a:t>
            </a:r>
          </a:p>
        </p:txBody>
      </p:sp>
      <p:sp>
        <p:nvSpPr>
          <p:cNvPr id="24" name="Rectangle 23"/>
          <p:cNvSpPr/>
          <p:nvPr/>
        </p:nvSpPr>
        <p:spPr>
          <a:xfrm>
            <a:off x="4155338" y="4992624"/>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01642" y="5029200"/>
            <a:ext cx="3277514" cy="457200"/>
          </a:xfrm>
          <a:prstGeom prst="rect">
            <a:avLst/>
          </a:prstGeom>
          <a:noFill/>
        </p:spPr>
        <p:txBody>
          <a:bodyPr wrap="square" lIns="0" rIns="0" tIns="0" bIns="0">
            <a:spAutoFit/>
          </a:bodyPr>
          <a:lstStyle/>
          <a:p>
            <a:pPr algn="l"/>
            <a:r>
              <a:rPr sz="3100" b="1" spc="-40">
                <a:solidFill>
                  <a:srgbClr val="8A1C1C"/>
                </a:solidFill>
                <a:latin typeface="IBM Plex Mono"/>
              </a:rPr>
              <a:t>−4.6%</a:t>
            </a:r>
          </a:p>
        </p:txBody>
      </p:sp>
      <p:sp>
        <p:nvSpPr>
          <p:cNvPr id="26" name="TextBox 25"/>
          <p:cNvSpPr txBox="1"/>
          <p:nvPr/>
        </p:nvSpPr>
        <p:spPr>
          <a:xfrm>
            <a:off x="4301642" y="5532628"/>
            <a:ext cx="3277514"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the same basket, year-to-date 2025, on a ~45% banking weight</a:t>
            </a:r>
          </a:p>
        </p:txBody>
      </p:sp>
      <p:sp>
        <p:nvSpPr>
          <p:cNvPr id="27" name="Rectangle 26"/>
          <p:cNvSpPr/>
          <p:nvPr/>
        </p:nvSpPr>
        <p:spPr>
          <a:xfrm>
            <a:off x="7743748" y="4992624"/>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90052" y="5029200"/>
            <a:ext cx="3277514" cy="457200"/>
          </a:xfrm>
          <a:prstGeom prst="rect">
            <a:avLst/>
          </a:prstGeom>
          <a:noFill/>
        </p:spPr>
        <p:txBody>
          <a:bodyPr wrap="square" lIns="0" rIns="0" tIns="0" bIns="0">
            <a:spAutoFit/>
          </a:bodyPr>
          <a:lstStyle/>
          <a:p>
            <a:pPr algn="l"/>
            <a:r>
              <a:rPr sz="3100" b="1" spc="-40">
                <a:solidFill>
                  <a:srgbClr val="12151A"/>
                </a:solidFill>
                <a:latin typeface="IBM Plex Mono"/>
              </a:rPr>
              <a:t>28.9%</a:t>
            </a:r>
          </a:p>
        </p:txBody>
      </p:sp>
      <p:sp>
        <p:nvSpPr>
          <p:cNvPr id="29" name="TextBox 28"/>
          <p:cNvSpPr txBox="1"/>
          <p:nvPr/>
        </p:nvSpPr>
        <p:spPr>
          <a:xfrm>
            <a:off x="7890052" y="5532628"/>
            <a:ext cx="3277514"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probability an ESG improver beats the index at one year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03</a:t>
            </a:r>
            <a:r>
              <a:rPr sz="1000" b="0" spc="100">
                <a:solidFill>
                  <a:srgbClr val="B6BEC4"/>
                </a:solidFill>
                <a:latin typeface="IBM Plex Mono"/>
              </a:rPr>
              <a:t>   /   </a:t>
            </a:r>
            <a:r>
              <a:rPr sz="1000" b="1" spc="130">
                <a:solidFill>
                  <a:srgbClr val="12151A"/>
                </a:solidFill>
                <a:latin typeface="IBM Plex Sans"/>
              </a:rPr>
              <a:t>WHAT IT IS</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All 52 names, one deterministic run. It never says buy, sell or hold, and it publishes no score.</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03</a:t>
            </a:r>
          </a:p>
        </p:txBody>
      </p:sp>
      <p:sp>
        <p:nvSpPr>
          <p:cNvPr id="9" name="TextBox 8"/>
          <p:cNvSpPr txBox="1"/>
          <p:nvPr/>
        </p:nvSpPr>
        <p:spPr>
          <a:xfrm>
            <a:off x="713232" y="914400"/>
            <a:ext cx="10765231" cy="913568"/>
          </a:xfrm>
          <a:prstGeom prst="rect">
            <a:avLst/>
          </a:prstGeom>
          <a:noFill/>
        </p:spPr>
        <p:txBody>
          <a:bodyPr wrap="square" lIns="0" rIns="0" tIns="0" bIns="0">
            <a:spAutoFit/>
          </a:bodyPr>
          <a:lstStyle/>
          <a:p>
            <a:pPr algn="l">
              <a:lnSpc>
                <a:spcPct val="100000"/>
              </a:lnSpc>
            </a:pPr>
            <a:r>
              <a:rPr sz="4600" b="1" spc="-55">
                <a:solidFill>
                  <a:srgbClr val="12151A"/>
                </a:solidFill>
                <a:latin typeface="IBM Plex Sans Condensed"/>
              </a:rPr>
              <a:t>We rank all 52 companies </a:t>
            </a:r>
            <a:r>
              <a:rPr sz="4600" b="1" spc="-55">
                <a:solidFill>
                  <a:srgbClr val="0F5132"/>
                </a:solidFill>
                <a:latin typeface="IBM Plex Sans Condensed"/>
              </a:rPr>
              <a:t>twice.</a:t>
            </a:r>
          </a:p>
        </p:txBody>
      </p:sp>
      <p:sp>
        <p:nvSpPr>
          <p:cNvPr id="10" name="TextBox 9"/>
          <p:cNvSpPr txBox="1"/>
          <p:nvPr/>
        </p:nvSpPr>
        <p:spPr>
          <a:xfrm>
            <a:off x="713232" y="1627632"/>
            <a:ext cx="9692640" cy="914400"/>
          </a:xfrm>
          <a:prstGeom prst="rect">
            <a:avLst/>
          </a:prstGeom>
          <a:noFill/>
        </p:spPr>
        <p:txBody>
          <a:bodyPr wrap="square" lIns="0" rIns="0" tIns="0" bIns="0">
            <a:spAutoFit/>
          </a:bodyPr>
          <a:lstStyle/>
          <a:p>
            <a:pPr algn="l">
              <a:lnSpc>
                <a:spcPct val="136000"/>
              </a:lnSpc>
            </a:pPr>
            <a:r>
              <a:rPr sz="1550" b="0">
                <a:solidFill>
                  <a:srgbClr val="4B5563"/>
                </a:solidFill>
                <a:latin typeface="IBM Plex Sans"/>
              </a:rPr>
              <a:t>Once on the rating the market already uses. Once on dated public evidence. Then we report the gap — with a direction, a date on every source, and a list of what would change it.</a:t>
            </a:r>
          </a:p>
        </p:txBody>
      </p:sp>
      <p:sp>
        <p:nvSpPr>
          <p:cNvPr id="11" name="Rectangle 10"/>
          <p:cNvSpPr/>
          <p:nvPr/>
        </p:nvSpPr>
        <p:spPr>
          <a:xfrm>
            <a:off x="713232" y="2359152"/>
            <a:ext cx="3253130"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505456"/>
            <a:ext cx="3253130" cy="411480"/>
          </a:xfrm>
          <a:prstGeom prst="rect">
            <a:avLst/>
          </a:prstGeom>
          <a:noFill/>
        </p:spPr>
        <p:txBody>
          <a:bodyPr wrap="square" lIns="0" rIns="0" tIns="0" bIns="0">
            <a:spAutoFit/>
          </a:bodyPr>
          <a:lstStyle/>
          <a:p>
            <a:pPr algn="l"/>
            <a:r>
              <a:rPr sz="2100" b="1" spc="-30">
                <a:solidFill>
                  <a:srgbClr val="12151A"/>
                </a:solidFill>
                <a:latin typeface="IBM Plex Sans Condensed"/>
              </a:rPr>
              <a:t>Thinks</a:t>
            </a:r>
          </a:p>
        </p:txBody>
      </p:sp>
      <p:sp>
        <p:nvSpPr>
          <p:cNvPr id="13" name="TextBox 12"/>
          <p:cNvSpPr txBox="1"/>
          <p:nvPr/>
        </p:nvSpPr>
        <p:spPr>
          <a:xfrm>
            <a:off x="713232" y="2999232"/>
            <a:ext cx="3115970" cy="1280160"/>
          </a:xfrm>
          <a:prstGeom prst="rect">
            <a:avLst/>
          </a:prstGeom>
          <a:noFill/>
        </p:spPr>
        <p:txBody>
          <a:bodyPr wrap="square" lIns="0" rIns="0" tIns="0" bIns="0">
            <a:spAutoFit/>
          </a:bodyPr>
          <a:lstStyle/>
          <a:p>
            <a:pPr algn="l">
              <a:lnSpc>
                <a:spcPct val="135000"/>
              </a:lnSpc>
            </a:pPr>
            <a:r>
              <a:rPr sz="1240" b="0">
                <a:solidFill>
                  <a:srgbClr val="4B5563"/>
                </a:solidFill>
                <a:latin typeface="IBM Plex Sans"/>
              </a:rPr>
              <a:t>It interrogates before it shows: four short questions that set the filters, the risk tier and how fast old news stops counting. Every answer changes what is on screen.</a:t>
            </a:r>
          </a:p>
        </p:txBody>
      </p:sp>
      <p:sp>
        <p:nvSpPr>
          <p:cNvPr id="14" name="Rectangle 13"/>
          <p:cNvSpPr/>
          <p:nvPr/>
        </p:nvSpPr>
        <p:spPr>
          <a:xfrm>
            <a:off x="4469282" y="2359152"/>
            <a:ext cx="3253130"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9282" y="2505456"/>
            <a:ext cx="3253130" cy="411480"/>
          </a:xfrm>
          <a:prstGeom prst="rect">
            <a:avLst/>
          </a:prstGeom>
          <a:noFill/>
        </p:spPr>
        <p:txBody>
          <a:bodyPr wrap="square" lIns="0" rIns="0" tIns="0" bIns="0">
            <a:spAutoFit/>
          </a:bodyPr>
          <a:lstStyle/>
          <a:p>
            <a:pPr algn="l"/>
            <a:r>
              <a:rPr sz="2100" b="1" spc="-30">
                <a:solidFill>
                  <a:srgbClr val="12151A"/>
                </a:solidFill>
                <a:latin typeface="IBM Plex Sans Condensed"/>
              </a:rPr>
              <a:t>Challenges</a:t>
            </a:r>
          </a:p>
        </p:txBody>
      </p:sp>
      <p:sp>
        <p:nvSpPr>
          <p:cNvPr id="16" name="TextBox 15"/>
          <p:cNvSpPr txBox="1"/>
          <p:nvPr/>
        </p:nvSpPr>
        <p:spPr>
          <a:xfrm>
            <a:off x="4469282" y="2999232"/>
            <a:ext cx="3115970" cy="1280160"/>
          </a:xfrm>
          <a:prstGeom prst="rect">
            <a:avLst/>
          </a:prstGeom>
          <a:noFill/>
        </p:spPr>
        <p:txBody>
          <a:bodyPr wrap="square" lIns="0" rIns="0" tIns="0" bIns="0">
            <a:spAutoFit/>
          </a:bodyPr>
          <a:lstStyle/>
          <a:p>
            <a:pPr algn="l">
              <a:lnSpc>
                <a:spcPct val="135000"/>
              </a:lnSpc>
            </a:pPr>
            <a:r>
              <a:rPr sz="1240" b="0">
                <a:solidFill>
                  <a:srgbClr val="4B5563"/>
                </a:solidFill>
                <a:latin typeface="IBM Plex Sans"/>
              </a:rPr>
              <a:t>A loose framing comes back sharper. It pushes back on the question instead of answering the wrong one.</a:t>
            </a:r>
          </a:p>
        </p:txBody>
      </p:sp>
      <p:sp>
        <p:nvSpPr>
          <p:cNvPr id="17" name="Rectangle 16"/>
          <p:cNvSpPr/>
          <p:nvPr/>
        </p:nvSpPr>
        <p:spPr>
          <a:xfrm>
            <a:off x="8225332" y="2359152"/>
            <a:ext cx="3253130" cy="20320"/>
          </a:xfrm>
          <a:prstGeom prst="rect">
            <a:avLst/>
          </a:prstGeom>
          <a:solidFill>
            <a:srgbClr val="1A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5332" y="2505456"/>
            <a:ext cx="3253130" cy="411480"/>
          </a:xfrm>
          <a:prstGeom prst="rect">
            <a:avLst/>
          </a:prstGeom>
          <a:noFill/>
        </p:spPr>
        <p:txBody>
          <a:bodyPr wrap="square" lIns="0" rIns="0" tIns="0" bIns="0">
            <a:spAutoFit/>
          </a:bodyPr>
          <a:lstStyle/>
          <a:p>
            <a:pPr algn="l"/>
            <a:r>
              <a:rPr sz="2100" b="1" spc="-30">
                <a:solidFill>
                  <a:srgbClr val="1A7F4F"/>
                </a:solidFill>
                <a:latin typeface="IBM Plex Sans Condensed"/>
              </a:rPr>
              <a:t>Competes</a:t>
            </a:r>
            <a:r>
              <a:rPr sz="850" b="1" spc="110">
                <a:solidFill>
                  <a:srgbClr val="1A7F4F"/>
                </a:solidFill>
                <a:latin typeface="IBM Plex Sans"/>
              </a:rPr>
              <a:t>   THE DIFFERENTIATOR</a:t>
            </a:r>
          </a:p>
        </p:txBody>
      </p:sp>
      <p:sp>
        <p:nvSpPr>
          <p:cNvPr id="19" name="TextBox 18"/>
          <p:cNvSpPr txBox="1"/>
          <p:nvPr/>
        </p:nvSpPr>
        <p:spPr>
          <a:xfrm>
            <a:off x="8225332" y="2999232"/>
            <a:ext cx="3115970" cy="1280160"/>
          </a:xfrm>
          <a:prstGeom prst="rect">
            <a:avLst/>
          </a:prstGeom>
          <a:noFill/>
        </p:spPr>
        <p:txBody>
          <a:bodyPr wrap="square" lIns="0" rIns="0" tIns="0" bIns="0">
            <a:spAutoFit/>
          </a:bodyPr>
          <a:lstStyle/>
          <a:p>
            <a:pPr algn="l">
              <a:lnSpc>
                <a:spcPct val="135000"/>
              </a:lnSpc>
            </a:pPr>
            <a:r>
              <a:rPr sz="1240" b="0">
                <a:solidFill>
                  <a:srgbClr val="4B5563"/>
                </a:solidFill>
                <a:latin typeface="IBM Plex Sans"/>
              </a:rPr>
              <a:t>It takes a position against a named rating, on evidence the rating cannot see — and shows its working.</a:t>
            </a:r>
          </a:p>
        </p:txBody>
      </p:sp>
      <p:sp>
        <p:nvSpPr>
          <p:cNvPr id="20" name="Rectangle 19"/>
          <p:cNvSpPr/>
          <p:nvPr/>
        </p:nvSpPr>
        <p:spPr>
          <a:xfrm>
            <a:off x="713232" y="4590288"/>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773168"/>
            <a:ext cx="1842150" cy="457200"/>
          </a:xfrm>
          <a:prstGeom prst="rect">
            <a:avLst/>
          </a:prstGeom>
          <a:noFill/>
        </p:spPr>
        <p:txBody>
          <a:bodyPr wrap="square" lIns="0" rIns="0" tIns="0" bIns="0">
            <a:spAutoFit/>
          </a:bodyPr>
          <a:lstStyle/>
          <a:p>
            <a:pPr algn="l"/>
            <a:r>
              <a:rPr sz="2900" b="1" spc="-40">
                <a:solidFill>
                  <a:srgbClr val="12151A"/>
                </a:solidFill>
                <a:latin typeface="IBM Plex Mono"/>
              </a:rPr>
              <a:t>24</a:t>
            </a:r>
          </a:p>
        </p:txBody>
      </p:sp>
      <p:sp>
        <p:nvSpPr>
          <p:cNvPr id="22" name="TextBox 21"/>
          <p:cNvSpPr txBox="1"/>
          <p:nvPr/>
        </p:nvSpPr>
        <p:spPr>
          <a:xfrm>
            <a:off x="713232" y="5251196"/>
            <a:ext cx="1842150"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both agree — and we say so</a:t>
            </a:r>
          </a:p>
        </p:txBody>
      </p:sp>
      <p:sp>
        <p:nvSpPr>
          <p:cNvPr id="23" name="Rectangle 22"/>
          <p:cNvSpPr/>
          <p:nvPr/>
        </p:nvSpPr>
        <p:spPr>
          <a:xfrm>
            <a:off x="2719974" y="4736592"/>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66278" y="4773168"/>
            <a:ext cx="1842150" cy="457200"/>
          </a:xfrm>
          <a:prstGeom prst="rect">
            <a:avLst/>
          </a:prstGeom>
          <a:noFill/>
        </p:spPr>
        <p:txBody>
          <a:bodyPr wrap="square" lIns="0" rIns="0" tIns="0" bIns="0">
            <a:spAutoFit/>
          </a:bodyPr>
          <a:lstStyle/>
          <a:p>
            <a:pPr algn="l"/>
            <a:r>
              <a:rPr sz="2900" b="1" spc="-40">
                <a:solidFill>
                  <a:srgbClr val="12151A"/>
                </a:solidFill>
                <a:latin typeface="IBM Plex Mono"/>
              </a:rPr>
              <a:t>21</a:t>
            </a:r>
          </a:p>
        </p:txBody>
      </p:sp>
      <p:sp>
        <p:nvSpPr>
          <p:cNvPr id="25" name="TextBox 24"/>
          <p:cNvSpPr txBox="1"/>
          <p:nvPr/>
        </p:nvSpPr>
        <p:spPr>
          <a:xfrm>
            <a:off x="2866278" y="5251196"/>
            <a:ext cx="1842150"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improving, already rated for it</a:t>
            </a:r>
          </a:p>
        </p:txBody>
      </p:sp>
      <p:sp>
        <p:nvSpPr>
          <p:cNvPr id="26" name="Rectangle 25"/>
          <p:cNvSpPr/>
          <p:nvPr/>
        </p:nvSpPr>
        <p:spPr>
          <a:xfrm>
            <a:off x="4873020" y="4736592"/>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19324" y="4773168"/>
            <a:ext cx="1842150" cy="457200"/>
          </a:xfrm>
          <a:prstGeom prst="rect">
            <a:avLst/>
          </a:prstGeom>
          <a:noFill/>
        </p:spPr>
        <p:txBody>
          <a:bodyPr wrap="square" lIns="0" rIns="0" tIns="0" bIns="0">
            <a:spAutoFit/>
          </a:bodyPr>
          <a:lstStyle/>
          <a:p>
            <a:pPr algn="l"/>
            <a:r>
              <a:rPr sz="2900" b="1" spc="-40">
                <a:solidFill>
                  <a:srgbClr val="1A7F4F"/>
                </a:solidFill>
                <a:latin typeface="IBM Plex Mono"/>
              </a:rPr>
              <a:t>4</a:t>
            </a:r>
          </a:p>
        </p:txBody>
      </p:sp>
      <p:sp>
        <p:nvSpPr>
          <p:cNvPr id="28" name="TextBox 27"/>
          <p:cNvSpPr txBox="1"/>
          <p:nvPr/>
        </p:nvSpPr>
        <p:spPr>
          <a:xfrm>
            <a:off x="5019324" y="5251196"/>
            <a:ext cx="1842150"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rated behind the evidence</a:t>
            </a:r>
          </a:p>
        </p:txBody>
      </p:sp>
      <p:sp>
        <p:nvSpPr>
          <p:cNvPr id="29" name="Rectangle 28"/>
          <p:cNvSpPr/>
          <p:nvPr/>
        </p:nvSpPr>
        <p:spPr>
          <a:xfrm>
            <a:off x="7026066" y="4736592"/>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72370" y="4773168"/>
            <a:ext cx="1842150" cy="457200"/>
          </a:xfrm>
          <a:prstGeom prst="rect">
            <a:avLst/>
          </a:prstGeom>
          <a:noFill/>
        </p:spPr>
        <p:txBody>
          <a:bodyPr wrap="square" lIns="0" rIns="0" tIns="0" bIns="0">
            <a:spAutoFit/>
          </a:bodyPr>
          <a:lstStyle/>
          <a:p>
            <a:pPr algn="l"/>
            <a:r>
              <a:rPr sz="2900" b="1" spc="-40">
                <a:solidFill>
                  <a:srgbClr val="8A1C1C"/>
                </a:solidFill>
                <a:latin typeface="IBM Plex Mono"/>
              </a:rPr>
              <a:t>2</a:t>
            </a:r>
          </a:p>
        </p:txBody>
      </p:sp>
      <p:sp>
        <p:nvSpPr>
          <p:cNvPr id="31" name="TextBox 30"/>
          <p:cNvSpPr txBox="1"/>
          <p:nvPr/>
        </p:nvSpPr>
        <p:spPr>
          <a:xfrm>
            <a:off x="7172370" y="5251196"/>
            <a:ext cx="1842150"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flattered by an old score</a:t>
            </a:r>
          </a:p>
        </p:txBody>
      </p:sp>
      <p:sp>
        <p:nvSpPr>
          <p:cNvPr id="32" name="Rectangle 31"/>
          <p:cNvSpPr/>
          <p:nvPr/>
        </p:nvSpPr>
        <p:spPr>
          <a:xfrm>
            <a:off x="9179112" y="4736592"/>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5416" y="4773168"/>
            <a:ext cx="1842150" cy="457200"/>
          </a:xfrm>
          <a:prstGeom prst="rect">
            <a:avLst/>
          </a:prstGeom>
          <a:noFill/>
        </p:spPr>
        <p:txBody>
          <a:bodyPr wrap="square" lIns="0" rIns="0" tIns="0" bIns="0">
            <a:spAutoFit/>
          </a:bodyPr>
          <a:lstStyle/>
          <a:p>
            <a:pPr algn="l"/>
            <a:r>
              <a:rPr sz="2900" b="1" spc="-40">
                <a:solidFill>
                  <a:srgbClr val="8A1C1C"/>
                </a:solidFill>
                <a:latin typeface="IBM Plex Mono"/>
              </a:rPr>
              <a:t>1</a:t>
            </a:r>
          </a:p>
        </p:txBody>
      </p:sp>
      <p:sp>
        <p:nvSpPr>
          <p:cNvPr id="34" name="TextBox 33"/>
          <p:cNvSpPr txBox="1"/>
          <p:nvPr/>
        </p:nvSpPr>
        <p:spPr>
          <a:xfrm>
            <a:off x="9325416" y="5251196"/>
            <a:ext cx="1842150"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poorly rated, still slipping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04</a:t>
            </a:r>
            <a:r>
              <a:rPr sz="1000" b="0" spc="100">
                <a:solidFill>
                  <a:srgbClr val="B6BEC4"/>
                </a:solidFill>
                <a:latin typeface="IBM Plex Mono"/>
              </a:rPr>
              <a:t>   /   </a:t>
            </a:r>
            <a:r>
              <a:rPr sz="1000" b="1" spc="130">
                <a:solidFill>
                  <a:srgbClr val="12151A"/>
                </a:solidFill>
                <a:latin typeface="IBM Plex Sans"/>
              </a:rPr>
              <a:t>PROTOTYPE · LIVE</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Pre-flight: harness.py prints ALL CHECKS PASSED · server.py · real basket, Demo OFF, tier Balanced. Held in reserve for Q&amp;A: the tamper demo — one character changes and the check flips to NO MATCH in about five seconds.</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04</a:t>
            </a:r>
          </a:p>
        </p:txBody>
      </p:sp>
      <p:sp>
        <p:nvSpPr>
          <p:cNvPr id="9" name="TextBox 8"/>
          <p:cNvSpPr txBox="1"/>
          <p:nvPr/>
        </p:nvSpPr>
        <p:spPr>
          <a:xfrm>
            <a:off x="713232" y="914400"/>
            <a:ext cx="10765231" cy="913568"/>
          </a:xfrm>
          <a:prstGeom prst="rect">
            <a:avLst/>
          </a:prstGeom>
          <a:noFill/>
        </p:spPr>
        <p:txBody>
          <a:bodyPr wrap="square" lIns="0" rIns="0" tIns="0" bIns="0">
            <a:spAutoFit/>
          </a:bodyPr>
          <a:lstStyle/>
          <a:p>
            <a:pPr algn="l">
              <a:lnSpc>
                <a:spcPct val="100000"/>
              </a:lnSpc>
            </a:pPr>
            <a:r>
              <a:rPr sz="4600" b="1" spc="-55">
                <a:solidFill>
                  <a:srgbClr val="12151A"/>
                </a:solidFill>
                <a:latin typeface="IBM Plex Sans Condensed"/>
              </a:rPr>
              <a:t>Ninety seconds. Six clicks. </a:t>
            </a:r>
            <a:r>
              <a:rPr sz="4600" b="1" spc="-55">
                <a:solidFill>
                  <a:srgbClr val="0F5132"/>
                </a:solidFill>
                <a:latin typeface="IBM Plex Sans Condensed"/>
              </a:rPr>
              <a:t>Same answer.</a:t>
            </a:r>
          </a:p>
        </p:txBody>
      </p:sp>
      <p:sp>
        <p:nvSpPr>
          <p:cNvPr id="10" name="Rectangle 9"/>
          <p:cNvSpPr/>
          <p:nvPr/>
        </p:nvSpPr>
        <p:spPr>
          <a:xfrm>
            <a:off x="713232" y="1847088"/>
            <a:ext cx="10765231" cy="1524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93392"/>
            <a:ext cx="685800" cy="365760"/>
          </a:xfrm>
          <a:prstGeom prst="rect">
            <a:avLst/>
          </a:prstGeom>
          <a:noFill/>
        </p:spPr>
        <p:txBody>
          <a:bodyPr wrap="square" lIns="0" rIns="0" tIns="0" bIns="0">
            <a:spAutoFit/>
          </a:bodyPr>
          <a:lstStyle/>
          <a:p>
            <a:pPr algn="l"/>
            <a:r>
              <a:rPr sz="1250" b="1" spc="-20">
                <a:solidFill>
                  <a:srgbClr val="767F89"/>
                </a:solidFill>
                <a:latin typeface="IBM Plex Mono"/>
              </a:rPr>
              <a:t>0:00</a:t>
            </a:r>
          </a:p>
        </p:txBody>
      </p:sp>
      <p:sp>
        <p:nvSpPr>
          <p:cNvPr id="12" name="TextBox 11"/>
          <p:cNvSpPr txBox="1"/>
          <p:nvPr/>
        </p:nvSpPr>
        <p:spPr>
          <a:xfrm>
            <a:off x="1581912" y="1993392"/>
            <a:ext cx="2468880" cy="365760"/>
          </a:xfrm>
          <a:prstGeom prst="rect">
            <a:avLst/>
          </a:prstGeom>
          <a:noFill/>
        </p:spPr>
        <p:txBody>
          <a:bodyPr wrap="square" lIns="0" rIns="0" tIns="0" bIns="0">
            <a:spAutoFit/>
          </a:bodyPr>
          <a:lstStyle/>
          <a:p>
            <a:pPr algn="l"/>
            <a:r>
              <a:rPr sz="1280" b="1">
                <a:solidFill>
                  <a:srgbClr val="12151A"/>
                </a:solidFill>
                <a:latin typeface="IBM Plex Sans"/>
              </a:rPr>
              <a:t>The board</a:t>
            </a:r>
          </a:p>
        </p:txBody>
      </p:sp>
      <p:sp>
        <p:nvSpPr>
          <p:cNvPr id="13" name="TextBox 12"/>
          <p:cNvSpPr txBox="1"/>
          <p:nvPr/>
        </p:nvSpPr>
        <p:spPr>
          <a:xfrm>
            <a:off x="4233672" y="1993392"/>
            <a:ext cx="7244791" cy="640080"/>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52 real companies, one deterministic run — the id is top-right. Same files in, same answer out.</a:t>
            </a:r>
          </a:p>
        </p:txBody>
      </p:sp>
      <p:sp>
        <p:nvSpPr>
          <p:cNvPr id="14" name="Rectangle 13"/>
          <p:cNvSpPr/>
          <p:nvPr/>
        </p:nvSpPr>
        <p:spPr>
          <a:xfrm>
            <a:off x="713232" y="2450592"/>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569464"/>
            <a:ext cx="685800" cy="365760"/>
          </a:xfrm>
          <a:prstGeom prst="rect">
            <a:avLst/>
          </a:prstGeom>
          <a:noFill/>
        </p:spPr>
        <p:txBody>
          <a:bodyPr wrap="square" lIns="0" rIns="0" tIns="0" bIns="0">
            <a:spAutoFit/>
          </a:bodyPr>
          <a:lstStyle/>
          <a:p>
            <a:pPr algn="l"/>
            <a:r>
              <a:rPr sz="1250" b="1" spc="-20">
                <a:solidFill>
                  <a:srgbClr val="767F89"/>
                </a:solidFill>
                <a:latin typeface="IBM Plex Mono"/>
              </a:rPr>
              <a:t>0:15</a:t>
            </a:r>
          </a:p>
        </p:txBody>
      </p:sp>
      <p:sp>
        <p:nvSpPr>
          <p:cNvPr id="16" name="TextBox 15"/>
          <p:cNvSpPr txBox="1"/>
          <p:nvPr/>
        </p:nvSpPr>
        <p:spPr>
          <a:xfrm>
            <a:off x="1581912" y="2569464"/>
            <a:ext cx="2468880" cy="365760"/>
          </a:xfrm>
          <a:prstGeom prst="rect">
            <a:avLst/>
          </a:prstGeom>
          <a:noFill/>
        </p:spPr>
        <p:txBody>
          <a:bodyPr wrap="square" lIns="0" rIns="0" tIns="0" bIns="0">
            <a:spAutoFit/>
          </a:bodyPr>
          <a:lstStyle/>
          <a:p>
            <a:pPr algn="l"/>
            <a:r>
              <a:rPr sz="1280" b="1">
                <a:solidFill>
                  <a:srgbClr val="12151A"/>
                </a:solidFill>
                <a:latin typeface="IBM Plex Sans"/>
              </a:rPr>
              <a:t>Disagreement matrix</a:t>
            </a:r>
          </a:p>
        </p:txBody>
      </p:sp>
      <p:sp>
        <p:nvSpPr>
          <p:cNvPr id="17" name="TextBox 16"/>
          <p:cNvSpPr txBox="1"/>
          <p:nvPr/>
        </p:nvSpPr>
        <p:spPr>
          <a:xfrm>
            <a:off x="4233672" y="2569464"/>
            <a:ext cx="7244791" cy="640080"/>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Left–right: what the rating thinks. Bottom–top: what the evidence says. Hollow dots are companies with no evidence — we draw the absence.</a:t>
            </a:r>
          </a:p>
        </p:txBody>
      </p:sp>
      <p:sp>
        <p:nvSpPr>
          <p:cNvPr id="18" name="Rectangle 17"/>
          <p:cNvSpPr/>
          <p:nvPr/>
        </p:nvSpPr>
        <p:spPr>
          <a:xfrm>
            <a:off x="713232" y="3026664"/>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45536"/>
            <a:ext cx="685800" cy="365760"/>
          </a:xfrm>
          <a:prstGeom prst="rect">
            <a:avLst/>
          </a:prstGeom>
          <a:noFill/>
        </p:spPr>
        <p:txBody>
          <a:bodyPr wrap="square" lIns="0" rIns="0" tIns="0" bIns="0">
            <a:spAutoFit/>
          </a:bodyPr>
          <a:lstStyle/>
          <a:p>
            <a:pPr algn="l"/>
            <a:r>
              <a:rPr sz="1250" b="1" spc="-20">
                <a:solidFill>
                  <a:srgbClr val="767F89"/>
                </a:solidFill>
                <a:latin typeface="IBM Plex Mono"/>
              </a:rPr>
              <a:t>0:30</a:t>
            </a:r>
          </a:p>
        </p:txBody>
      </p:sp>
      <p:sp>
        <p:nvSpPr>
          <p:cNvPr id="20" name="TextBox 19"/>
          <p:cNvSpPr txBox="1"/>
          <p:nvPr/>
        </p:nvSpPr>
        <p:spPr>
          <a:xfrm>
            <a:off x="1581912" y="3145536"/>
            <a:ext cx="2468880" cy="365760"/>
          </a:xfrm>
          <a:prstGeom prst="rect">
            <a:avLst/>
          </a:prstGeom>
          <a:noFill/>
        </p:spPr>
        <p:txBody>
          <a:bodyPr wrap="square" lIns="0" rIns="0" tIns="0" bIns="0">
            <a:spAutoFit/>
          </a:bodyPr>
          <a:lstStyle/>
          <a:p>
            <a:pPr algn="l"/>
            <a:r>
              <a:rPr sz="1280" b="1">
                <a:solidFill>
                  <a:srgbClr val="12151A"/>
                </a:solidFill>
                <a:latin typeface="IBM Plex Sans"/>
              </a:rPr>
              <a:t>The RHB chip</a:t>
            </a:r>
          </a:p>
        </p:txBody>
      </p:sp>
      <p:sp>
        <p:nvSpPr>
          <p:cNvPr id="21" name="TextBox 20"/>
          <p:cNvSpPr txBox="1"/>
          <p:nvPr/>
        </p:nvSpPr>
        <p:spPr>
          <a:xfrm>
            <a:off x="4233672" y="3145536"/>
            <a:ext cx="7244791" cy="640080"/>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Rated 18th. Evidence 98th. Fourteen dated sources. One click, no hunting for the dot.</a:t>
            </a:r>
          </a:p>
        </p:txBody>
      </p:sp>
      <p:sp>
        <p:nvSpPr>
          <p:cNvPr id="22" name="Rectangle 21"/>
          <p:cNvSpPr/>
          <p:nvPr/>
        </p:nvSpPr>
        <p:spPr>
          <a:xfrm>
            <a:off x="713232" y="3602736"/>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3721608"/>
            <a:ext cx="685800" cy="365760"/>
          </a:xfrm>
          <a:prstGeom prst="rect">
            <a:avLst/>
          </a:prstGeom>
          <a:noFill/>
        </p:spPr>
        <p:txBody>
          <a:bodyPr wrap="square" lIns="0" rIns="0" tIns="0" bIns="0">
            <a:spAutoFit/>
          </a:bodyPr>
          <a:lstStyle/>
          <a:p>
            <a:pPr algn="l"/>
            <a:r>
              <a:rPr sz="1250" b="1" spc="-20">
                <a:solidFill>
                  <a:srgbClr val="767F89"/>
                </a:solidFill>
                <a:latin typeface="IBM Plex Mono"/>
              </a:rPr>
              <a:t>0:45</a:t>
            </a:r>
          </a:p>
        </p:txBody>
      </p:sp>
      <p:sp>
        <p:nvSpPr>
          <p:cNvPr id="24" name="TextBox 23"/>
          <p:cNvSpPr txBox="1"/>
          <p:nvPr/>
        </p:nvSpPr>
        <p:spPr>
          <a:xfrm>
            <a:off x="1581912" y="3721608"/>
            <a:ext cx="2468880" cy="365760"/>
          </a:xfrm>
          <a:prstGeom prst="rect">
            <a:avLst/>
          </a:prstGeom>
          <a:noFill/>
        </p:spPr>
        <p:txBody>
          <a:bodyPr wrap="square" lIns="0" rIns="0" tIns="0" bIns="0">
            <a:spAutoFit/>
          </a:bodyPr>
          <a:lstStyle/>
          <a:p>
            <a:pPr algn="l"/>
            <a:r>
              <a:rPr sz="1280" b="1">
                <a:solidFill>
                  <a:srgbClr val="12151A"/>
                </a:solidFill>
                <a:latin typeface="IBM Plex Sans"/>
              </a:rPr>
              <a:t>Evidence trail</a:t>
            </a:r>
          </a:p>
        </p:txBody>
      </p:sp>
      <p:sp>
        <p:nvSpPr>
          <p:cNvPr id="25" name="TextBox 24"/>
          <p:cNvSpPr txBox="1"/>
          <p:nvPr/>
        </p:nvSpPr>
        <p:spPr>
          <a:xfrm>
            <a:off x="4233672" y="3721608"/>
            <a:ext cx="7244791" cy="640080"/>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Every signal dated, sourced, directional, with the reason it was weighted that way. Three clicks to the primary source.</a:t>
            </a:r>
          </a:p>
        </p:txBody>
      </p:sp>
      <p:sp>
        <p:nvSpPr>
          <p:cNvPr id="26" name="Rectangle 25"/>
          <p:cNvSpPr/>
          <p:nvPr/>
        </p:nvSpPr>
        <p:spPr>
          <a:xfrm>
            <a:off x="713232" y="4178808"/>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297680"/>
            <a:ext cx="685800" cy="365760"/>
          </a:xfrm>
          <a:prstGeom prst="rect">
            <a:avLst/>
          </a:prstGeom>
          <a:noFill/>
        </p:spPr>
        <p:txBody>
          <a:bodyPr wrap="square" lIns="0" rIns="0" tIns="0" bIns="0">
            <a:spAutoFit/>
          </a:bodyPr>
          <a:lstStyle/>
          <a:p>
            <a:pPr algn="l"/>
            <a:r>
              <a:rPr sz="1250" b="1" spc="-20">
                <a:solidFill>
                  <a:srgbClr val="767F89"/>
                </a:solidFill>
                <a:latin typeface="IBM Plex Mono"/>
              </a:rPr>
              <a:t>1:05</a:t>
            </a:r>
          </a:p>
        </p:txBody>
      </p:sp>
      <p:sp>
        <p:nvSpPr>
          <p:cNvPr id="28" name="TextBox 27"/>
          <p:cNvSpPr txBox="1"/>
          <p:nvPr/>
        </p:nvSpPr>
        <p:spPr>
          <a:xfrm>
            <a:off x="1581912" y="4297680"/>
            <a:ext cx="2468880" cy="365760"/>
          </a:xfrm>
          <a:prstGeom prst="rect">
            <a:avLst/>
          </a:prstGeom>
          <a:noFill/>
        </p:spPr>
        <p:txBody>
          <a:bodyPr wrap="square" lIns="0" rIns="0" tIns="0" bIns="0">
            <a:spAutoFit/>
          </a:bodyPr>
          <a:lstStyle/>
          <a:p>
            <a:pPr algn="l"/>
            <a:r>
              <a:rPr sz="1280" b="1">
                <a:solidFill>
                  <a:srgbClr val="12151A"/>
                </a:solidFill>
                <a:latin typeface="IBM Plex Sans"/>
              </a:rPr>
              <a:t>What would change this</a:t>
            </a:r>
          </a:p>
        </p:txBody>
      </p:sp>
      <p:sp>
        <p:nvSpPr>
          <p:cNvPr id="29" name="TextBox 28"/>
          <p:cNvSpPr txBox="1"/>
          <p:nvPr/>
        </p:nvSpPr>
        <p:spPr>
          <a:xfrm>
            <a:off x="4233672" y="4297680"/>
            <a:ext cx="7244791" cy="640080"/>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Pull any one source out and we re-score, and show which removals flip the verdict.</a:t>
            </a:r>
          </a:p>
        </p:txBody>
      </p:sp>
      <p:sp>
        <p:nvSpPr>
          <p:cNvPr id="30" name="Rectangle 29"/>
          <p:cNvSpPr/>
          <p:nvPr/>
        </p:nvSpPr>
        <p:spPr>
          <a:xfrm>
            <a:off x="713232" y="4754880"/>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4873752"/>
            <a:ext cx="685800" cy="365760"/>
          </a:xfrm>
          <a:prstGeom prst="rect">
            <a:avLst/>
          </a:prstGeom>
          <a:noFill/>
        </p:spPr>
        <p:txBody>
          <a:bodyPr wrap="square" lIns="0" rIns="0" tIns="0" bIns="0">
            <a:spAutoFit/>
          </a:bodyPr>
          <a:lstStyle/>
          <a:p>
            <a:pPr algn="l"/>
            <a:r>
              <a:rPr sz="1250" b="1" spc="-20">
                <a:solidFill>
                  <a:srgbClr val="767F89"/>
                </a:solidFill>
                <a:latin typeface="IBM Plex Mono"/>
              </a:rPr>
              <a:t>1:20</a:t>
            </a:r>
          </a:p>
        </p:txBody>
      </p:sp>
      <p:sp>
        <p:nvSpPr>
          <p:cNvPr id="32" name="TextBox 31"/>
          <p:cNvSpPr txBox="1"/>
          <p:nvPr/>
        </p:nvSpPr>
        <p:spPr>
          <a:xfrm>
            <a:off x="1581912" y="4873752"/>
            <a:ext cx="2468880" cy="365760"/>
          </a:xfrm>
          <a:prstGeom prst="rect">
            <a:avLst/>
          </a:prstGeom>
          <a:noFill/>
        </p:spPr>
        <p:txBody>
          <a:bodyPr wrap="square" lIns="0" rIns="0" tIns="0" bIns="0">
            <a:spAutoFit/>
          </a:bodyPr>
          <a:lstStyle/>
          <a:p>
            <a:pPr algn="l"/>
            <a:r>
              <a:rPr sz="1280" b="1">
                <a:solidFill>
                  <a:srgbClr val="12151A"/>
                </a:solidFill>
                <a:latin typeface="IBM Plex Sans"/>
              </a:rPr>
              <a:t>Verify this evidence</a:t>
            </a:r>
          </a:p>
        </p:txBody>
      </p:sp>
      <p:sp>
        <p:nvSpPr>
          <p:cNvPr id="33" name="TextBox 32"/>
          <p:cNvSpPr txBox="1"/>
          <p:nvPr/>
        </p:nvSpPr>
        <p:spPr>
          <a:xfrm>
            <a:off x="4233672" y="4873752"/>
            <a:ext cx="7244791" cy="640080"/>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Recompute every hash against the root anchored on a public chain. MATCH — proof on-chain, no licensed data off the machine.</a:t>
            </a:r>
          </a:p>
        </p:txBody>
      </p:sp>
      <p:sp>
        <p:nvSpPr>
          <p:cNvPr id="34" name="Rectangle 33"/>
          <p:cNvSpPr/>
          <p:nvPr/>
        </p:nvSpPr>
        <p:spPr>
          <a:xfrm>
            <a:off x="713232" y="5330952"/>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 y="5468112"/>
            <a:ext cx="31750" cy="566928"/>
          </a:xfrm>
          <a:prstGeom prst="rect">
            <a:avLst/>
          </a:prstGeom>
          <a:solidFill>
            <a:srgbClr val="8A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7824" y="5486400"/>
            <a:ext cx="10399471" cy="566928"/>
          </a:xfrm>
          <a:prstGeom prst="rect">
            <a:avLst/>
          </a:prstGeom>
          <a:noFill/>
        </p:spPr>
        <p:txBody>
          <a:bodyPr wrap="square" lIns="0" rIns="0" tIns="0" bIns="0">
            <a:spAutoFit/>
          </a:bodyPr>
          <a:lstStyle/>
          <a:p>
            <a:pPr algn="l">
              <a:lnSpc>
                <a:spcPct val="134000"/>
              </a:lnSpc>
            </a:pPr>
            <a:r>
              <a:rPr sz="1150" b="1">
                <a:solidFill>
                  <a:srgbClr val="8A1C1C"/>
                </a:solidFill>
                <a:latin typeface="IBM Plex Sans"/>
              </a:rPr>
              <a:t>No chain endpoint? The run says anchor_pending. </a:t>
            </a:r>
            <a:r>
              <a:rPr sz="1150" b="0">
                <a:solidFill>
                  <a:srgbClr val="4B5563"/>
                </a:solidFill>
                <a:latin typeface="IBM Plex Sans"/>
              </a:rPr>
              <a:t>It never claims to be anchored when it is not, and the check still runs locally against the stored record.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05</a:t>
            </a:r>
            <a:r>
              <a:rPr sz="1000" b="0" spc="100">
                <a:solidFill>
                  <a:srgbClr val="B6BEC4"/>
                </a:solidFill>
                <a:latin typeface="IBM Plex Mono"/>
              </a:rPr>
              <a:t>   /   </a:t>
            </a:r>
            <a:r>
              <a:rPr sz="1000" b="1" spc="130">
                <a:solidFill>
                  <a:srgbClr val="12151A"/>
                </a:solidFill>
                <a:latin typeface="IBM Plex Sans"/>
              </a:rPr>
              <a:t>WHY THE NUMBER HOLDS</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The rule was published on 25 Aug 2026, before the sweep ran and while the data it judges did not yet exist. Adaro (2023) — the case we get wrong — stays in the backtest, flagged.</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05</a:t>
            </a:r>
          </a:p>
        </p:txBody>
      </p:sp>
      <p:sp>
        <p:nvSpPr>
          <p:cNvPr id="9" name="TextBox 8"/>
          <p:cNvSpPr txBox="1"/>
          <p:nvPr/>
        </p:nvSpPr>
        <p:spPr>
          <a:xfrm>
            <a:off x="713232" y="914400"/>
            <a:ext cx="10765231" cy="877824"/>
          </a:xfrm>
          <a:prstGeom prst="rect">
            <a:avLst/>
          </a:prstGeom>
          <a:noFill/>
        </p:spPr>
        <p:txBody>
          <a:bodyPr wrap="square" lIns="0" rIns="0" tIns="0" bIns="0">
            <a:spAutoFit/>
          </a:bodyPr>
          <a:lstStyle/>
          <a:p>
            <a:pPr algn="l">
              <a:lnSpc>
                <a:spcPct val="100000"/>
              </a:lnSpc>
            </a:pPr>
            <a:r>
              <a:rPr sz="4400" b="1" spc="-55">
                <a:solidFill>
                  <a:srgbClr val="12151A"/>
                </a:solidFill>
                <a:latin typeface="IBM Plex Sans Condensed"/>
              </a:rPr>
              <a:t>We wrote the bar down </a:t>
            </a:r>
            <a:r>
              <a:rPr sz="4400" b="1" spc="-55">
                <a:solidFill>
                  <a:srgbClr val="0F5132"/>
                </a:solidFill>
                <a:latin typeface="IBM Plex Sans Condensed"/>
              </a:rPr>
              <a:t>before</a:t>
            </a:r>
            <a:r>
              <a:rPr sz="4400" b="1" spc="-55">
                <a:solidFill>
                  <a:srgbClr val="12151A"/>
                </a:solidFill>
                <a:latin typeface="IBM Plex Sans Condensed"/>
              </a:rPr>
              <a:t> the evidence.</a:t>
            </a:r>
          </a:p>
        </p:txBody>
      </p:sp>
      <p:sp>
        <p:nvSpPr>
          <p:cNvPr id="10" name="Rectangle 9"/>
          <p:cNvSpPr/>
          <p:nvPr/>
        </p:nvSpPr>
        <p:spPr>
          <a:xfrm>
            <a:off x="713232" y="1755648"/>
            <a:ext cx="38100" cy="1481328"/>
          </a:xfrm>
          <a:prstGeom prst="rect">
            <a:avLst/>
          </a:prstGeom>
          <a:solidFill>
            <a:srgbClr val="0F5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1755648"/>
            <a:ext cx="5532120" cy="1463040"/>
          </a:xfrm>
          <a:prstGeom prst="rect">
            <a:avLst/>
          </a:prstGeom>
          <a:noFill/>
        </p:spPr>
        <p:txBody>
          <a:bodyPr wrap="square" lIns="0" rIns="0" tIns="0" bIns="0">
            <a:spAutoFit/>
          </a:bodyPr>
          <a:lstStyle/>
          <a:p>
            <a:pPr algn="l">
              <a:lnSpc>
                <a:spcPct val="130000"/>
              </a:lnSpc>
            </a:pPr>
            <a:r>
              <a:rPr sz="1650" b="1" spc="-20">
                <a:solidFill>
                  <a:srgbClr val="12151A"/>
                </a:solidFill>
                <a:latin typeface="IBM Plex Sans Condensed"/>
              </a:rPr>
              <a:t>A parameter may change for a reason that can be argued without reference to the answer it produces. It may not change because we dislike the answer.</a:t>
            </a:r>
          </a:p>
        </p:txBody>
      </p:sp>
      <p:sp>
        <p:nvSpPr>
          <p:cNvPr id="12" name="TextBox 11"/>
          <p:cNvSpPr txBox="1"/>
          <p:nvPr/>
        </p:nvSpPr>
        <p:spPr>
          <a:xfrm>
            <a:off x="950976" y="3328415"/>
            <a:ext cx="5532120" cy="365760"/>
          </a:xfrm>
          <a:prstGeom prst="rect">
            <a:avLst/>
          </a:prstGeom>
          <a:noFill/>
        </p:spPr>
        <p:txBody>
          <a:bodyPr wrap="square" lIns="0" rIns="0" tIns="0" bIns="0">
            <a:spAutoFit/>
          </a:bodyPr>
          <a:lstStyle/>
          <a:p>
            <a:pPr algn="l"/>
            <a:r>
              <a:rPr sz="950" b="1" spc="110">
                <a:solidFill>
                  <a:srgbClr val="767F89"/>
                </a:solidFill>
                <a:latin typeface="IBM Plex Sans"/>
              </a:rPr>
              <a:t>PRE-REGISTERED · 25 AUG 2026 · BEFORE THE SWEEP</a:t>
            </a:r>
          </a:p>
        </p:txBody>
      </p:sp>
      <p:sp>
        <p:nvSpPr>
          <p:cNvPr id="13" name="Rectangle 12"/>
          <p:cNvSpPr/>
          <p:nvPr/>
        </p:nvSpPr>
        <p:spPr>
          <a:xfrm>
            <a:off x="6976872" y="1755648"/>
            <a:ext cx="450159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76872" y="1920240"/>
            <a:ext cx="4501591" cy="320040"/>
          </a:xfrm>
          <a:prstGeom prst="rect">
            <a:avLst/>
          </a:prstGeom>
          <a:noFill/>
        </p:spPr>
        <p:txBody>
          <a:bodyPr wrap="square" lIns="0" rIns="0" tIns="0" bIns="0">
            <a:spAutoFit/>
          </a:bodyPr>
          <a:lstStyle/>
          <a:p>
            <a:pPr algn="l"/>
            <a:r>
              <a:rPr sz="1280" b="1">
                <a:solidFill>
                  <a:srgbClr val="12151A"/>
                </a:solidFill>
                <a:latin typeface="IBM Plex Sans"/>
              </a:rPr>
              <a:t>Deterministic</a:t>
            </a:r>
          </a:p>
        </p:txBody>
      </p:sp>
      <p:sp>
        <p:nvSpPr>
          <p:cNvPr id="15" name="TextBox 14"/>
          <p:cNvSpPr txBox="1"/>
          <p:nvPr/>
        </p:nvSpPr>
        <p:spPr>
          <a:xfrm>
            <a:off x="6976872" y="2194560"/>
            <a:ext cx="4501591" cy="640080"/>
          </a:xfrm>
          <a:prstGeom prst="rect">
            <a:avLst/>
          </a:prstGeom>
          <a:noFill/>
        </p:spPr>
        <p:txBody>
          <a:bodyPr wrap="square" lIns="0" rIns="0" tIns="0" bIns="0">
            <a:spAutoFit/>
          </a:bodyPr>
          <a:lstStyle/>
          <a:p>
            <a:pPr algn="l">
              <a:lnSpc>
                <a:spcPct val="130000"/>
              </a:lnSpc>
            </a:pPr>
            <a:r>
              <a:rPr sz="1180" b="0">
                <a:solidFill>
                  <a:srgbClr val="4B5563"/>
                </a:solidFill>
                <a:latin typeface="IBM Plex Sans"/>
              </a:rPr>
              <a:t>No clock, no randomness, no model in the scoring path. Same files, same run id, same quadrants.</a:t>
            </a:r>
          </a:p>
        </p:txBody>
      </p:sp>
      <p:sp>
        <p:nvSpPr>
          <p:cNvPr id="16" name="Rectangle 15"/>
          <p:cNvSpPr/>
          <p:nvPr/>
        </p:nvSpPr>
        <p:spPr>
          <a:xfrm>
            <a:off x="6976872" y="2706624"/>
            <a:ext cx="450159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76872" y="2852928"/>
            <a:ext cx="4501591" cy="320040"/>
          </a:xfrm>
          <a:prstGeom prst="rect">
            <a:avLst/>
          </a:prstGeom>
          <a:noFill/>
        </p:spPr>
        <p:txBody>
          <a:bodyPr wrap="square" lIns="0" rIns="0" tIns="0" bIns="0">
            <a:spAutoFit/>
          </a:bodyPr>
          <a:lstStyle/>
          <a:p>
            <a:pPr algn="l"/>
            <a:r>
              <a:rPr sz="1280" b="1">
                <a:solidFill>
                  <a:srgbClr val="12151A"/>
                </a:solidFill>
                <a:latin typeface="IBM Plex Sans"/>
              </a:rPr>
              <a:t>Five guards</a:t>
            </a:r>
          </a:p>
        </p:txBody>
      </p:sp>
      <p:sp>
        <p:nvSpPr>
          <p:cNvPr id="18" name="TextBox 17"/>
          <p:cNvSpPr txBox="1"/>
          <p:nvPr/>
        </p:nvSpPr>
        <p:spPr>
          <a:xfrm>
            <a:off x="6976872" y="3127248"/>
            <a:ext cx="4501591" cy="640080"/>
          </a:xfrm>
          <a:prstGeom prst="rect">
            <a:avLst/>
          </a:prstGeom>
          <a:noFill/>
        </p:spPr>
        <p:txBody>
          <a:bodyPr wrap="square" lIns="0" rIns="0" tIns="0" bIns="0">
            <a:spAutoFit/>
          </a:bodyPr>
          <a:lstStyle/>
          <a:p>
            <a:pPr algn="l">
              <a:lnSpc>
                <a:spcPct val="130000"/>
              </a:lnSpc>
            </a:pPr>
            <a:r>
              <a:rPr sz="1180" b="0">
                <a:solidFill>
                  <a:srgbClr val="4B5563"/>
                </a:solidFill>
                <a:latin typeface="IBM Plex Sans"/>
              </a:rPr>
              <a:t>No date or no working source, the fact is dropped. We decide the source type from the domain — never the publisher.</a:t>
            </a:r>
          </a:p>
        </p:txBody>
      </p:sp>
      <p:sp>
        <p:nvSpPr>
          <p:cNvPr id="19" name="Rectangle 18"/>
          <p:cNvSpPr/>
          <p:nvPr/>
        </p:nvSpPr>
        <p:spPr>
          <a:xfrm>
            <a:off x="6976872" y="3639312"/>
            <a:ext cx="450159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76872" y="3785616"/>
            <a:ext cx="4501591" cy="320040"/>
          </a:xfrm>
          <a:prstGeom prst="rect">
            <a:avLst/>
          </a:prstGeom>
          <a:noFill/>
        </p:spPr>
        <p:txBody>
          <a:bodyPr wrap="square" lIns="0" rIns="0" tIns="0" bIns="0">
            <a:spAutoFit/>
          </a:bodyPr>
          <a:lstStyle/>
          <a:p>
            <a:pPr algn="l"/>
            <a:r>
              <a:rPr sz="1280" b="1">
                <a:solidFill>
                  <a:srgbClr val="12151A"/>
                </a:solidFill>
                <a:latin typeface="IBM Plex Sans"/>
              </a:rPr>
              <a:t>The cap that costs us</a:t>
            </a:r>
          </a:p>
        </p:txBody>
      </p:sp>
      <p:sp>
        <p:nvSpPr>
          <p:cNvPr id="21" name="TextBox 20"/>
          <p:cNvSpPr txBox="1"/>
          <p:nvPr/>
        </p:nvSpPr>
        <p:spPr>
          <a:xfrm>
            <a:off x="6976872" y="4059936"/>
            <a:ext cx="4501591" cy="640080"/>
          </a:xfrm>
          <a:prstGeom prst="rect">
            <a:avLst/>
          </a:prstGeom>
          <a:noFill/>
        </p:spPr>
        <p:txBody>
          <a:bodyPr wrap="square" lIns="0" rIns="0" tIns="0" bIns="0">
            <a:spAutoFit/>
          </a:bodyPr>
          <a:lstStyle/>
          <a:p>
            <a:pPr algn="l">
              <a:lnSpc>
                <a:spcPct val="130000"/>
              </a:lnSpc>
            </a:pPr>
            <a:r>
              <a:rPr sz="1180" b="0">
                <a:solidFill>
                  <a:srgbClr val="4B5563"/>
                </a:solidFill>
                <a:latin typeface="IBM Plex Sans"/>
              </a:rPr>
              <a:t>Company-published material is capped at 0.5 confidence. 86% of a public search is company-published.</a:t>
            </a:r>
          </a:p>
        </p:txBody>
      </p:sp>
      <p:sp>
        <p:nvSpPr>
          <p:cNvPr id="22" name="Rectangle 21"/>
          <p:cNvSpPr/>
          <p:nvPr/>
        </p:nvSpPr>
        <p:spPr>
          <a:xfrm>
            <a:off x="6976872" y="4572000"/>
            <a:ext cx="450159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4645152"/>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828032"/>
            <a:ext cx="2380411" cy="457200"/>
          </a:xfrm>
          <a:prstGeom prst="rect">
            <a:avLst/>
          </a:prstGeom>
          <a:noFill/>
        </p:spPr>
        <p:txBody>
          <a:bodyPr wrap="square" lIns="0" rIns="0" tIns="0" bIns="0">
            <a:spAutoFit/>
          </a:bodyPr>
          <a:lstStyle/>
          <a:p>
            <a:pPr algn="l"/>
            <a:r>
              <a:rPr sz="3200" b="1" spc="-40">
                <a:solidFill>
                  <a:srgbClr val="12151A"/>
                </a:solidFill>
                <a:latin typeface="IBM Plex Mono"/>
              </a:rPr>
              <a:t>0</a:t>
            </a:r>
          </a:p>
        </p:txBody>
      </p:sp>
      <p:sp>
        <p:nvSpPr>
          <p:cNvPr id="25" name="TextBox 24"/>
          <p:cNvSpPr txBox="1"/>
          <p:nvPr/>
        </p:nvSpPr>
        <p:spPr>
          <a:xfrm>
            <a:off x="713232" y="5344160"/>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thresholds moved to produce that list</a:t>
            </a:r>
          </a:p>
        </p:txBody>
      </p:sp>
      <p:sp>
        <p:nvSpPr>
          <p:cNvPr id="26" name="Rectangle 25"/>
          <p:cNvSpPr/>
          <p:nvPr/>
        </p:nvSpPr>
        <p:spPr>
          <a:xfrm>
            <a:off x="3258235" y="4791456"/>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04539" y="4828032"/>
            <a:ext cx="2380411" cy="457200"/>
          </a:xfrm>
          <a:prstGeom prst="rect">
            <a:avLst/>
          </a:prstGeom>
          <a:noFill/>
        </p:spPr>
        <p:txBody>
          <a:bodyPr wrap="square" lIns="0" rIns="0" tIns="0" bIns="0">
            <a:spAutoFit/>
          </a:bodyPr>
          <a:lstStyle/>
          <a:p>
            <a:pPr algn="l"/>
            <a:r>
              <a:rPr sz="3200" b="1" spc="-40">
                <a:solidFill>
                  <a:srgbClr val="1A7F4F"/>
                </a:solidFill>
                <a:latin typeface="IBM Plex Mono"/>
              </a:rPr>
              <a:t>4</a:t>
            </a:r>
          </a:p>
        </p:txBody>
      </p:sp>
      <p:sp>
        <p:nvSpPr>
          <p:cNvPr id="28" name="TextBox 27"/>
          <p:cNvSpPr txBox="1"/>
          <p:nvPr/>
        </p:nvSpPr>
        <p:spPr>
          <a:xfrm>
            <a:off x="3404539" y="5344160"/>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names crossed the unmoved bar, on better sources</a:t>
            </a:r>
          </a:p>
        </p:txBody>
      </p:sp>
      <p:sp>
        <p:nvSpPr>
          <p:cNvPr id="29" name="Rectangle 28"/>
          <p:cNvSpPr/>
          <p:nvPr/>
        </p:nvSpPr>
        <p:spPr>
          <a:xfrm>
            <a:off x="5949543" y="4791456"/>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5847" y="4828032"/>
            <a:ext cx="2380411" cy="457200"/>
          </a:xfrm>
          <a:prstGeom prst="rect">
            <a:avLst/>
          </a:prstGeom>
          <a:noFill/>
        </p:spPr>
        <p:txBody>
          <a:bodyPr wrap="square" lIns="0" rIns="0" tIns="0" bIns="0">
            <a:spAutoFit/>
          </a:bodyPr>
          <a:lstStyle/>
          <a:p>
            <a:pPr algn="l"/>
            <a:r>
              <a:rPr sz="3200" b="1" spc="-40">
                <a:solidFill>
                  <a:srgbClr val="12151A"/>
                </a:solidFill>
                <a:latin typeface="IBM Plex Mono"/>
              </a:rPr>
              <a:t>25</a:t>
            </a:r>
          </a:p>
        </p:txBody>
      </p:sp>
      <p:sp>
        <p:nvSpPr>
          <p:cNvPr id="31" name="TextBox 30"/>
          <p:cNvSpPr txBox="1"/>
          <p:nvPr/>
        </p:nvSpPr>
        <p:spPr>
          <a:xfrm>
            <a:off x="6095847" y="5344160"/>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signals on the best-covered company — the bar is reachable</a:t>
            </a:r>
          </a:p>
        </p:txBody>
      </p:sp>
      <p:sp>
        <p:nvSpPr>
          <p:cNvPr id="32" name="Rectangle 31"/>
          <p:cNvSpPr/>
          <p:nvPr/>
        </p:nvSpPr>
        <p:spPr>
          <a:xfrm>
            <a:off x="8640851" y="4791456"/>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87155" y="4828032"/>
            <a:ext cx="2380411" cy="457200"/>
          </a:xfrm>
          <a:prstGeom prst="rect">
            <a:avLst/>
          </a:prstGeom>
          <a:noFill/>
        </p:spPr>
        <p:txBody>
          <a:bodyPr wrap="square" lIns="0" rIns="0" tIns="0" bIns="0">
            <a:spAutoFit/>
          </a:bodyPr>
          <a:lstStyle/>
          <a:p>
            <a:pPr algn="l"/>
            <a:r>
              <a:rPr sz="3200" b="1" spc="-40">
                <a:solidFill>
                  <a:srgbClr val="8A1C1C"/>
                </a:solidFill>
                <a:latin typeface="IBM Plex Mono"/>
              </a:rPr>
              <a:t>1</a:t>
            </a:r>
          </a:p>
        </p:txBody>
      </p:sp>
      <p:sp>
        <p:nvSpPr>
          <p:cNvPr id="34" name="TextBox 33"/>
          <p:cNvSpPr txBox="1"/>
          <p:nvPr/>
        </p:nvSpPr>
        <p:spPr>
          <a:xfrm>
            <a:off x="8787155" y="5344160"/>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published failure case kept in the backtest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06</a:t>
            </a:r>
            <a:r>
              <a:rPr sz="1000" b="0" spc="100">
                <a:solidFill>
                  <a:srgbClr val="B6BEC4"/>
                </a:solidFill>
                <a:latin typeface="IBM Plex Mono"/>
              </a:rPr>
              <a:t>   /   </a:t>
            </a:r>
            <a:r>
              <a:rPr sz="1000" b="1" spc="130">
                <a:solidFill>
                  <a:srgbClr val="12151A"/>
                </a:solidFill>
                <a:latin typeface="IBM Plex Sans"/>
              </a:rPr>
              <a:t>WHAT SEPARATES US</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Financial read: 17 strong · 22 adequate · 11 weak · 2 unknown, from two audited fiscal years per company. A gate, computed after the scoring and reported beside it — never inside it.</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06</a:t>
            </a:r>
          </a:p>
        </p:txBody>
      </p:sp>
      <p:sp>
        <p:nvSpPr>
          <p:cNvPr id="9" name="TextBox 8"/>
          <p:cNvSpPr txBox="1"/>
          <p:nvPr/>
        </p:nvSpPr>
        <p:spPr>
          <a:xfrm>
            <a:off x="713232" y="914400"/>
            <a:ext cx="10765231" cy="913568"/>
          </a:xfrm>
          <a:prstGeom prst="rect">
            <a:avLst/>
          </a:prstGeom>
          <a:noFill/>
        </p:spPr>
        <p:txBody>
          <a:bodyPr wrap="square" lIns="0" rIns="0" tIns="0" bIns="0">
            <a:spAutoFit/>
          </a:bodyPr>
          <a:lstStyle/>
          <a:p>
            <a:pPr algn="l">
              <a:lnSpc>
                <a:spcPct val="100000"/>
              </a:lnSpc>
            </a:pPr>
            <a:r>
              <a:rPr sz="4600" b="1" spc="-55">
                <a:solidFill>
                  <a:srgbClr val="12151A"/>
                </a:solidFill>
                <a:latin typeface="IBM Plex Sans Condensed"/>
              </a:rPr>
              <a:t>The AI reads. The rules </a:t>
            </a:r>
            <a:r>
              <a:rPr sz="4600" b="1" spc="-55">
                <a:solidFill>
                  <a:srgbClr val="0F5132"/>
                </a:solidFill>
                <a:latin typeface="IBM Plex Sans Condensed"/>
              </a:rPr>
              <a:t>score.</a:t>
            </a:r>
          </a:p>
        </p:txBody>
      </p:sp>
      <p:sp>
        <p:nvSpPr>
          <p:cNvPr id="10" name="Rectangle 9"/>
          <p:cNvSpPr/>
          <p:nvPr/>
        </p:nvSpPr>
        <p:spPr>
          <a:xfrm>
            <a:off x="713232" y="1847088"/>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25112" y="1938528"/>
            <a:ext cx="3017520" cy="274320"/>
          </a:xfrm>
          <a:prstGeom prst="rect">
            <a:avLst/>
          </a:prstGeom>
          <a:noFill/>
        </p:spPr>
        <p:txBody>
          <a:bodyPr wrap="square" lIns="0" rIns="0" tIns="0" bIns="0">
            <a:spAutoFit/>
          </a:bodyPr>
          <a:lstStyle/>
          <a:p>
            <a:pPr algn="l"/>
            <a:r>
              <a:rPr sz="900" b="1" spc="120">
                <a:solidFill>
                  <a:srgbClr val="767F89"/>
                </a:solidFill>
                <a:latin typeface="IBM Plex Sans"/>
              </a:rPr>
              <a:t>THEY DO</a:t>
            </a:r>
          </a:p>
        </p:txBody>
      </p:sp>
      <p:sp>
        <p:nvSpPr>
          <p:cNvPr id="12" name="TextBox 11"/>
          <p:cNvSpPr txBox="1"/>
          <p:nvPr/>
        </p:nvSpPr>
        <p:spPr>
          <a:xfrm>
            <a:off x="7616952" y="1938528"/>
            <a:ext cx="3657600" cy="274320"/>
          </a:xfrm>
          <a:prstGeom prst="rect">
            <a:avLst/>
          </a:prstGeom>
          <a:noFill/>
        </p:spPr>
        <p:txBody>
          <a:bodyPr wrap="square" lIns="0" rIns="0" tIns="0" bIns="0">
            <a:spAutoFit/>
          </a:bodyPr>
          <a:lstStyle/>
          <a:p>
            <a:pPr algn="l"/>
            <a:r>
              <a:rPr sz="900" b="1" spc="120">
                <a:solidFill>
                  <a:srgbClr val="1A7F4F"/>
                </a:solidFill>
                <a:latin typeface="IBM Plex Sans"/>
              </a:rPr>
              <a:t>WE DO</a:t>
            </a:r>
          </a:p>
        </p:txBody>
      </p:sp>
      <p:sp>
        <p:nvSpPr>
          <p:cNvPr id="13" name="TextBox 12"/>
          <p:cNvSpPr txBox="1"/>
          <p:nvPr/>
        </p:nvSpPr>
        <p:spPr>
          <a:xfrm>
            <a:off x="713232" y="2249424"/>
            <a:ext cx="3383280" cy="548640"/>
          </a:xfrm>
          <a:prstGeom prst="rect">
            <a:avLst/>
          </a:prstGeom>
          <a:noFill/>
        </p:spPr>
        <p:txBody>
          <a:bodyPr wrap="square" lIns="0" rIns="0" tIns="0" bIns="0">
            <a:spAutoFit/>
          </a:bodyPr>
          <a:lstStyle/>
          <a:p>
            <a:pPr algn="l">
              <a:lnSpc>
                <a:spcPct val="125000"/>
              </a:lnSpc>
            </a:pPr>
            <a:r>
              <a:rPr sz="1300" b="1">
                <a:solidFill>
                  <a:srgbClr val="12151A"/>
                </a:solidFill>
                <a:latin typeface="IBM Plex Sans"/>
              </a:rPr>
              <a:t>A rating</a:t>
            </a:r>
          </a:p>
        </p:txBody>
      </p:sp>
      <p:sp>
        <p:nvSpPr>
          <p:cNvPr id="14" name="TextBox 13"/>
          <p:cNvSpPr txBox="1"/>
          <p:nvPr/>
        </p:nvSpPr>
        <p:spPr>
          <a:xfrm>
            <a:off x="4325112" y="2249424"/>
            <a:ext cx="3108960" cy="640080"/>
          </a:xfrm>
          <a:prstGeom prst="rect">
            <a:avLst/>
          </a:prstGeom>
          <a:noFill/>
        </p:spPr>
        <p:txBody>
          <a:bodyPr wrap="square" lIns="0" rIns="0" tIns="0" bIns="0">
            <a:spAutoFit/>
          </a:bodyPr>
          <a:lstStyle/>
          <a:p>
            <a:pPr algn="l">
              <a:lnSpc>
                <a:spcPct val="128000"/>
              </a:lnSpc>
            </a:pPr>
            <a:r>
              <a:rPr sz="1180" b="0">
                <a:solidFill>
                  <a:srgbClr val="767F89"/>
                </a:solidFill>
                <a:latin typeface="IBM Plex Sans"/>
              </a:rPr>
              <a:t>Publishes a level, late</a:t>
            </a:r>
          </a:p>
        </p:txBody>
      </p:sp>
      <p:sp>
        <p:nvSpPr>
          <p:cNvPr id="15" name="TextBox 14"/>
          <p:cNvSpPr txBox="1"/>
          <p:nvPr/>
        </p:nvSpPr>
        <p:spPr>
          <a:xfrm>
            <a:off x="7616952" y="2249424"/>
            <a:ext cx="3861511" cy="640080"/>
          </a:xfrm>
          <a:prstGeom prst="rect">
            <a:avLst/>
          </a:prstGeom>
          <a:noFill/>
        </p:spPr>
        <p:txBody>
          <a:bodyPr wrap="square" lIns="0" rIns="0" tIns="0" bIns="0">
            <a:spAutoFit/>
          </a:bodyPr>
          <a:lstStyle/>
          <a:p>
            <a:pPr algn="l">
              <a:lnSpc>
                <a:spcPct val="128000"/>
              </a:lnSpc>
            </a:pPr>
            <a:r>
              <a:rPr sz="1180" b="0">
                <a:solidFill>
                  <a:srgbClr val="4B5563"/>
                </a:solidFill>
                <a:latin typeface="IBM Plex Sans"/>
              </a:rPr>
              <a:t>Publishes a gap, with a direction and a date on every source</a:t>
            </a:r>
          </a:p>
        </p:txBody>
      </p:sp>
      <p:sp>
        <p:nvSpPr>
          <p:cNvPr id="16" name="Rectangle 15"/>
          <p:cNvSpPr/>
          <p:nvPr/>
        </p:nvSpPr>
        <p:spPr>
          <a:xfrm>
            <a:off x="713232" y="2834639"/>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980944"/>
            <a:ext cx="3383280" cy="548640"/>
          </a:xfrm>
          <a:prstGeom prst="rect">
            <a:avLst/>
          </a:prstGeom>
          <a:noFill/>
        </p:spPr>
        <p:txBody>
          <a:bodyPr wrap="square" lIns="0" rIns="0" tIns="0" bIns="0">
            <a:spAutoFit/>
          </a:bodyPr>
          <a:lstStyle/>
          <a:p>
            <a:pPr algn="l">
              <a:lnSpc>
                <a:spcPct val="125000"/>
              </a:lnSpc>
            </a:pPr>
            <a:r>
              <a:rPr sz="1300" b="1">
                <a:solidFill>
                  <a:srgbClr val="12151A"/>
                </a:solidFill>
                <a:latin typeface="IBM Plex Sans"/>
              </a:rPr>
              <a:t>A stock picker</a:t>
            </a:r>
          </a:p>
        </p:txBody>
      </p:sp>
      <p:sp>
        <p:nvSpPr>
          <p:cNvPr id="18" name="TextBox 17"/>
          <p:cNvSpPr txBox="1"/>
          <p:nvPr/>
        </p:nvSpPr>
        <p:spPr>
          <a:xfrm>
            <a:off x="4325112" y="2980944"/>
            <a:ext cx="3108960" cy="640080"/>
          </a:xfrm>
          <a:prstGeom prst="rect">
            <a:avLst/>
          </a:prstGeom>
          <a:noFill/>
        </p:spPr>
        <p:txBody>
          <a:bodyPr wrap="square" lIns="0" rIns="0" tIns="0" bIns="0">
            <a:spAutoFit/>
          </a:bodyPr>
          <a:lstStyle/>
          <a:p>
            <a:pPr algn="l">
              <a:lnSpc>
                <a:spcPct val="128000"/>
              </a:lnSpc>
            </a:pPr>
            <a:r>
              <a:rPr sz="1180" b="0">
                <a:solidFill>
                  <a:srgbClr val="767F89"/>
                </a:solidFill>
                <a:latin typeface="IBM Plex Sans"/>
              </a:rPr>
              <a:t>One blended number</a:t>
            </a:r>
          </a:p>
        </p:txBody>
      </p:sp>
      <p:sp>
        <p:nvSpPr>
          <p:cNvPr id="19" name="TextBox 18"/>
          <p:cNvSpPr txBox="1"/>
          <p:nvPr/>
        </p:nvSpPr>
        <p:spPr>
          <a:xfrm>
            <a:off x="7616952" y="2980944"/>
            <a:ext cx="3861511" cy="640080"/>
          </a:xfrm>
          <a:prstGeom prst="rect">
            <a:avLst/>
          </a:prstGeom>
          <a:noFill/>
        </p:spPr>
        <p:txBody>
          <a:bodyPr wrap="square" lIns="0" rIns="0" tIns="0" bIns="0">
            <a:spAutoFit/>
          </a:bodyPr>
          <a:lstStyle/>
          <a:p>
            <a:pPr algn="l">
              <a:lnSpc>
                <a:spcPct val="128000"/>
              </a:lnSpc>
            </a:pPr>
            <a:r>
              <a:rPr sz="1180" b="0">
                <a:solidFill>
                  <a:srgbClr val="4B5563"/>
                </a:solidFill>
                <a:latin typeface="IBM Plex Sans"/>
              </a:rPr>
              <a:t>Two axes, never merged — ESG evidence, and a separate money gate</a:t>
            </a:r>
          </a:p>
        </p:txBody>
      </p:sp>
      <p:sp>
        <p:nvSpPr>
          <p:cNvPr id="20" name="Rectangle 19"/>
          <p:cNvSpPr/>
          <p:nvPr/>
        </p:nvSpPr>
        <p:spPr>
          <a:xfrm>
            <a:off x="713232" y="3566159"/>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712463"/>
            <a:ext cx="3383280" cy="548640"/>
          </a:xfrm>
          <a:prstGeom prst="rect">
            <a:avLst/>
          </a:prstGeom>
          <a:noFill/>
        </p:spPr>
        <p:txBody>
          <a:bodyPr wrap="square" lIns="0" rIns="0" tIns="0" bIns="0">
            <a:spAutoFit/>
          </a:bodyPr>
          <a:lstStyle/>
          <a:p>
            <a:pPr algn="l">
              <a:lnSpc>
                <a:spcPct val="125000"/>
              </a:lnSpc>
            </a:pPr>
            <a:r>
              <a:rPr sz="1300" b="1">
                <a:solidFill>
                  <a:srgbClr val="12151A"/>
                </a:solidFill>
                <a:latin typeface="IBM Plex Sans"/>
              </a:rPr>
              <a:t>Chain ESG platforms</a:t>
            </a:r>
          </a:p>
        </p:txBody>
      </p:sp>
      <p:sp>
        <p:nvSpPr>
          <p:cNvPr id="22" name="TextBox 21"/>
          <p:cNvSpPr txBox="1"/>
          <p:nvPr/>
        </p:nvSpPr>
        <p:spPr>
          <a:xfrm>
            <a:off x="4325112" y="3712463"/>
            <a:ext cx="3108960" cy="640080"/>
          </a:xfrm>
          <a:prstGeom prst="rect">
            <a:avLst/>
          </a:prstGeom>
          <a:noFill/>
        </p:spPr>
        <p:txBody>
          <a:bodyPr wrap="square" lIns="0" rIns="0" tIns="0" bIns="0">
            <a:spAutoFit/>
          </a:bodyPr>
          <a:lstStyle/>
          <a:p>
            <a:pPr algn="l">
              <a:lnSpc>
                <a:spcPct val="128000"/>
              </a:lnSpc>
            </a:pPr>
            <a:r>
              <a:rPr sz="1180" b="0">
                <a:solidFill>
                  <a:srgbClr val="767F89"/>
                </a:solidFill>
                <a:latin typeface="IBM Plex Sans"/>
              </a:rPr>
              <a:t>Issuer-side: the company writes its own data to a chain</a:t>
            </a:r>
          </a:p>
        </p:txBody>
      </p:sp>
      <p:sp>
        <p:nvSpPr>
          <p:cNvPr id="23" name="TextBox 22"/>
          <p:cNvSpPr txBox="1"/>
          <p:nvPr/>
        </p:nvSpPr>
        <p:spPr>
          <a:xfrm>
            <a:off x="7616952" y="3712463"/>
            <a:ext cx="3861511" cy="640080"/>
          </a:xfrm>
          <a:prstGeom prst="rect">
            <a:avLst/>
          </a:prstGeom>
          <a:noFill/>
        </p:spPr>
        <p:txBody>
          <a:bodyPr wrap="square" lIns="0" rIns="0" tIns="0" bIns="0">
            <a:spAutoFit/>
          </a:bodyPr>
          <a:lstStyle/>
          <a:p>
            <a:pPr algn="l">
              <a:lnSpc>
                <a:spcPct val="128000"/>
              </a:lnSpc>
            </a:pPr>
            <a:r>
              <a:rPr sz="1180" b="0">
                <a:solidFill>
                  <a:srgbClr val="4B5563"/>
                </a:solidFill>
                <a:latin typeface="IBM Plex Sans"/>
              </a:rPr>
              <a:t>Investor-side and adversarial — the company's own word is our least-trusted source</a:t>
            </a:r>
          </a:p>
        </p:txBody>
      </p:sp>
      <p:sp>
        <p:nvSpPr>
          <p:cNvPr id="24" name="Rectangle 23"/>
          <p:cNvSpPr/>
          <p:nvPr/>
        </p:nvSpPr>
        <p:spPr>
          <a:xfrm>
            <a:off x="713232" y="4297679"/>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443983"/>
            <a:ext cx="3383280" cy="548640"/>
          </a:xfrm>
          <a:prstGeom prst="rect">
            <a:avLst/>
          </a:prstGeom>
          <a:noFill/>
        </p:spPr>
        <p:txBody>
          <a:bodyPr wrap="square" lIns="0" rIns="0" tIns="0" bIns="0">
            <a:spAutoFit/>
          </a:bodyPr>
          <a:lstStyle/>
          <a:p>
            <a:pPr algn="l">
              <a:lnSpc>
                <a:spcPct val="125000"/>
              </a:lnSpc>
            </a:pPr>
            <a:r>
              <a:rPr sz="1300" b="1">
                <a:solidFill>
                  <a:srgbClr val="12151A"/>
                </a:solidFill>
                <a:latin typeface="IBM Plex Sans"/>
              </a:rPr>
              <a:t>“AI-scored ESG”</a:t>
            </a:r>
          </a:p>
        </p:txBody>
      </p:sp>
      <p:sp>
        <p:nvSpPr>
          <p:cNvPr id="26" name="TextBox 25"/>
          <p:cNvSpPr txBox="1"/>
          <p:nvPr/>
        </p:nvSpPr>
        <p:spPr>
          <a:xfrm>
            <a:off x="4325112" y="4443983"/>
            <a:ext cx="3108960" cy="640080"/>
          </a:xfrm>
          <a:prstGeom prst="rect">
            <a:avLst/>
          </a:prstGeom>
          <a:noFill/>
        </p:spPr>
        <p:txBody>
          <a:bodyPr wrap="square" lIns="0" rIns="0" tIns="0" bIns="0">
            <a:spAutoFit/>
          </a:bodyPr>
          <a:lstStyle/>
          <a:p>
            <a:pPr algn="l">
              <a:lnSpc>
                <a:spcPct val="128000"/>
              </a:lnSpc>
            </a:pPr>
            <a:r>
              <a:rPr sz="1180" b="0">
                <a:solidFill>
                  <a:srgbClr val="767F89"/>
                </a:solidFill>
                <a:latin typeface="IBM Plex Sans"/>
              </a:rPr>
              <a:t>A model assigns the score</a:t>
            </a:r>
          </a:p>
        </p:txBody>
      </p:sp>
      <p:sp>
        <p:nvSpPr>
          <p:cNvPr id="27" name="TextBox 26"/>
          <p:cNvSpPr txBox="1"/>
          <p:nvPr/>
        </p:nvSpPr>
        <p:spPr>
          <a:xfrm>
            <a:off x="7616952" y="4443983"/>
            <a:ext cx="3861511" cy="640080"/>
          </a:xfrm>
          <a:prstGeom prst="rect">
            <a:avLst/>
          </a:prstGeom>
          <a:noFill/>
        </p:spPr>
        <p:txBody>
          <a:bodyPr wrap="square" lIns="0" rIns="0" tIns="0" bIns="0">
            <a:spAutoFit/>
          </a:bodyPr>
          <a:lstStyle/>
          <a:p>
            <a:pPr algn="l">
              <a:lnSpc>
                <a:spcPct val="128000"/>
              </a:lnSpc>
            </a:pPr>
            <a:r>
              <a:rPr sz="1180" b="0">
                <a:solidFill>
                  <a:srgbClr val="4B5563"/>
                </a:solidFill>
                <a:latin typeface="IBM Plex Sans"/>
              </a:rPr>
              <a:t>The model only gathers; scoring is rule-based and costs zero tokens</a:t>
            </a:r>
          </a:p>
        </p:txBody>
      </p:sp>
      <p:sp>
        <p:nvSpPr>
          <p:cNvPr id="28" name="Rectangle 27"/>
          <p:cNvSpPr/>
          <p:nvPr/>
        </p:nvSpPr>
        <p:spPr>
          <a:xfrm>
            <a:off x="713232" y="5029199"/>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3232" y="5321807"/>
            <a:ext cx="38100" cy="786384"/>
          </a:xfrm>
          <a:prstGeom prst="rect">
            <a:avLst/>
          </a:prstGeom>
          <a:solidFill>
            <a:srgbClr val="1A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 y="5321807"/>
            <a:ext cx="10308031" cy="822960"/>
          </a:xfrm>
          <a:prstGeom prst="rect">
            <a:avLst/>
          </a:prstGeom>
          <a:noFill/>
        </p:spPr>
        <p:txBody>
          <a:bodyPr wrap="square" lIns="0" rIns="0" tIns="0" bIns="0">
            <a:spAutoFit/>
          </a:bodyPr>
          <a:lstStyle/>
          <a:p>
            <a:pPr algn="l">
              <a:lnSpc>
                <a:spcPct val="132000"/>
              </a:lnSpc>
            </a:pPr>
            <a:r>
              <a:rPr sz="1500" b="1" spc="-20">
                <a:solidFill>
                  <a:srgbClr val="12151A"/>
                </a:solidFill>
                <a:latin typeface="IBM Plex Sans Condensed"/>
              </a:rPr>
              <a:t>UOB clears the ESG bar and fails the money read</a:t>
            </a:r>
            <a:r>
              <a:rPr sz="1300" b="0">
                <a:solidFill>
                  <a:srgbClr val="4B5563"/>
                </a:solidFill>
                <a:latin typeface="IBM Plex Sans"/>
              </a:rPr>
              <a:t>  — earnings down 22.6%. We show both and never average them. One combined score would have buried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07</a:t>
            </a:r>
            <a:r>
              <a:rPr sz="1000" b="0" spc="100">
                <a:solidFill>
                  <a:srgbClr val="B6BEC4"/>
                </a:solidFill>
                <a:latin typeface="IBM Plex Mono"/>
              </a:rPr>
              <a:t>   /   </a:t>
            </a:r>
            <a:r>
              <a:rPr sz="1000" b="1" spc="130">
                <a:solidFill>
                  <a:srgbClr val="12151A"/>
                </a:solidFill>
                <a:latin typeface="IBM Plex Sans"/>
              </a:rPr>
              <a:t>INVESTMENT</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Measured over a full 28-company sweep: 4 calls and ~6,059 tokens per company, yielding ~5.3 dated facts. DeepSeek published card, off-peak; peak is exactly 2×, and a sweep is a batch job.</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07</a:t>
            </a:r>
          </a:p>
        </p:txBody>
      </p:sp>
      <p:sp>
        <p:nvSpPr>
          <p:cNvPr id="9" name="TextBox 8"/>
          <p:cNvSpPr txBox="1"/>
          <p:nvPr/>
        </p:nvSpPr>
        <p:spPr>
          <a:xfrm>
            <a:off x="713232" y="914400"/>
            <a:ext cx="10765231" cy="877824"/>
          </a:xfrm>
          <a:prstGeom prst="rect">
            <a:avLst/>
          </a:prstGeom>
          <a:noFill/>
        </p:spPr>
        <p:txBody>
          <a:bodyPr wrap="square" lIns="0" rIns="0" tIns="0" bIns="0">
            <a:spAutoFit/>
          </a:bodyPr>
          <a:lstStyle/>
          <a:p>
            <a:pPr algn="l">
              <a:lnSpc>
                <a:spcPct val="100000"/>
              </a:lnSpc>
            </a:pPr>
            <a:r>
              <a:rPr sz="4400" b="1" spc="-55">
                <a:solidFill>
                  <a:srgbClr val="12151A"/>
                </a:solidFill>
                <a:latin typeface="IBM Plex Sans Condensed"/>
              </a:rPr>
              <a:t>S$0.079 per company per year. </a:t>
            </a:r>
            <a:r>
              <a:rPr sz="4400" b="1" spc="-55">
                <a:solidFill>
                  <a:srgbClr val="0F5132"/>
                </a:solidFill>
                <a:latin typeface="IBM Plex Sans Condensed"/>
              </a:rPr>
              <a:t>Measured.</a:t>
            </a:r>
          </a:p>
        </p:txBody>
      </p:sp>
      <p:sp>
        <p:nvSpPr>
          <p:cNvPr id="10" name="Rectangle 9"/>
          <p:cNvSpPr/>
          <p:nvPr/>
        </p:nvSpPr>
        <p:spPr>
          <a:xfrm>
            <a:off x="713232" y="1700784"/>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83664"/>
            <a:ext cx="2380411" cy="457200"/>
          </a:xfrm>
          <a:prstGeom prst="rect">
            <a:avLst/>
          </a:prstGeom>
          <a:noFill/>
        </p:spPr>
        <p:txBody>
          <a:bodyPr wrap="square" lIns="0" rIns="0" tIns="0" bIns="0">
            <a:spAutoFit/>
          </a:bodyPr>
          <a:lstStyle/>
          <a:p>
            <a:pPr algn="l"/>
            <a:r>
              <a:rPr sz="2900" b="1" spc="-40">
                <a:solidFill>
                  <a:srgbClr val="12151A"/>
                </a:solidFill>
                <a:latin typeface="IBM Plex Mono"/>
              </a:rPr>
              <a:t>S$4.12</a:t>
            </a:r>
          </a:p>
        </p:txBody>
      </p:sp>
      <p:sp>
        <p:nvSpPr>
          <p:cNvPr id="12" name="TextBox 11"/>
          <p:cNvSpPr txBox="1"/>
          <p:nvPr/>
        </p:nvSpPr>
        <p:spPr>
          <a:xfrm>
            <a:off x="713232" y="2361692"/>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a year to cover the whole 52-company basket</a:t>
            </a:r>
          </a:p>
        </p:txBody>
      </p:sp>
      <p:sp>
        <p:nvSpPr>
          <p:cNvPr id="13" name="Rectangle 12"/>
          <p:cNvSpPr/>
          <p:nvPr/>
        </p:nvSpPr>
        <p:spPr>
          <a:xfrm>
            <a:off x="3258235" y="1847088"/>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4539" y="1883664"/>
            <a:ext cx="2380411" cy="457200"/>
          </a:xfrm>
          <a:prstGeom prst="rect">
            <a:avLst/>
          </a:prstGeom>
          <a:noFill/>
        </p:spPr>
        <p:txBody>
          <a:bodyPr wrap="square" lIns="0" rIns="0" tIns="0" bIns="0">
            <a:spAutoFit/>
          </a:bodyPr>
          <a:lstStyle/>
          <a:p>
            <a:pPr algn="l"/>
            <a:r>
              <a:rPr sz="2900" b="1" spc="-40">
                <a:solidFill>
                  <a:srgbClr val="12151A"/>
                </a:solidFill>
                <a:latin typeface="IBM Plex Mono"/>
              </a:rPr>
              <a:t>S$39.65</a:t>
            </a:r>
          </a:p>
        </p:txBody>
      </p:sp>
      <p:sp>
        <p:nvSpPr>
          <p:cNvPr id="15" name="TextBox 14"/>
          <p:cNvSpPr txBox="1"/>
          <p:nvPr/>
        </p:nvSpPr>
        <p:spPr>
          <a:xfrm>
            <a:off x="3404539" y="2361692"/>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a year at 500 companies</a:t>
            </a:r>
          </a:p>
        </p:txBody>
      </p:sp>
      <p:sp>
        <p:nvSpPr>
          <p:cNvPr id="16" name="Rectangle 15"/>
          <p:cNvSpPr/>
          <p:nvPr/>
        </p:nvSpPr>
        <p:spPr>
          <a:xfrm>
            <a:off x="5949543" y="1847088"/>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5847" y="1883664"/>
            <a:ext cx="2380411" cy="457200"/>
          </a:xfrm>
          <a:prstGeom prst="rect">
            <a:avLst/>
          </a:prstGeom>
          <a:noFill/>
        </p:spPr>
        <p:txBody>
          <a:bodyPr wrap="square" lIns="0" rIns="0" tIns="0" bIns="0">
            <a:spAutoFit/>
          </a:bodyPr>
          <a:lstStyle/>
          <a:p>
            <a:pPr algn="l"/>
            <a:r>
              <a:rPr sz="2900" b="1" spc="-40">
                <a:solidFill>
                  <a:srgbClr val="12151A"/>
                </a:solidFill>
                <a:latin typeface="IBM Plex Mono"/>
              </a:rPr>
              <a:t>S$158.60</a:t>
            </a:r>
          </a:p>
        </p:txBody>
      </p:sp>
      <p:sp>
        <p:nvSpPr>
          <p:cNvPr id="18" name="TextBox 17"/>
          <p:cNvSpPr txBox="1"/>
          <p:nvPr/>
        </p:nvSpPr>
        <p:spPr>
          <a:xfrm>
            <a:off x="6095847" y="2361692"/>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a year at 2,000 companies</a:t>
            </a:r>
          </a:p>
        </p:txBody>
      </p:sp>
      <p:sp>
        <p:nvSpPr>
          <p:cNvPr id="19" name="Rectangle 18"/>
          <p:cNvSpPr/>
          <p:nvPr/>
        </p:nvSpPr>
        <p:spPr>
          <a:xfrm>
            <a:off x="8640851" y="1847088"/>
            <a:ext cx="9525" cy="70408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7155" y="1883664"/>
            <a:ext cx="2380411" cy="457200"/>
          </a:xfrm>
          <a:prstGeom prst="rect">
            <a:avLst/>
          </a:prstGeom>
          <a:noFill/>
        </p:spPr>
        <p:txBody>
          <a:bodyPr wrap="square" lIns="0" rIns="0" tIns="0" bIns="0">
            <a:spAutoFit/>
          </a:bodyPr>
          <a:lstStyle/>
          <a:p>
            <a:pPr algn="l"/>
            <a:r>
              <a:rPr sz="2900" b="1" spc="-40">
                <a:solidFill>
                  <a:srgbClr val="1A7F4F"/>
                </a:solidFill>
                <a:latin typeface="IBM Plex Mono"/>
              </a:rPr>
              <a:t>S$118.45</a:t>
            </a:r>
          </a:p>
        </p:txBody>
      </p:sp>
      <p:sp>
        <p:nvSpPr>
          <p:cNvPr id="21" name="TextBox 20"/>
          <p:cNvSpPr txBox="1"/>
          <p:nvPr/>
        </p:nvSpPr>
        <p:spPr>
          <a:xfrm>
            <a:off x="8787155" y="2361692"/>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total spend to build what you just saw</a:t>
            </a:r>
          </a:p>
        </p:txBody>
      </p:sp>
      <p:sp>
        <p:nvSpPr>
          <p:cNvPr id="22" name="Rectangle 21"/>
          <p:cNvSpPr/>
          <p:nvPr/>
        </p:nvSpPr>
        <p:spPr>
          <a:xfrm>
            <a:off x="713232" y="2944368"/>
            <a:ext cx="10765231" cy="1524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3090672"/>
            <a:ext cx="3383280" cy="621792"/>
          </a:xfrm>
          <a:prstGeom prst="rect">
            <a:avLst/>
          </a:prstGeom>
          <a:noFill/>
        </p:spPr>
        <p:txBody>
          <a:bodyPr wrap="square" lIns="0" rIns="0" tIns="0" bIns="0">
            <a:spAutoFit/>
          </a:bodyPr>
          <a:lstStyle/>
          <a:p>
            <a:pPr algn="l">
              <a:lnSpc>
                <a:spcPct val="120000"/>
              </a:lnSpc>
            </a:pPr>
            <a:r>
              <a:rPr sz="1260" b="1">
                <a:solidFill>
                  <a:srgbClr val="1A7F4F"/>
                </a:solidFill>
                <a:latin typeface="IBM Plex Sans"/>
              </a:rPr>
              <a:t>Zero marginal scoring</a:t>
            </a:r>
          </a:p>
        </p:txBody>
      </p:sp>
      <p:sp>
        <p:nvSpPr>
          <p:cNvPr id="24" name="TextBox 23"/>
          <p:cNvSpPr txBox="1"/>
          <p:nvPr/>
        </p:nvSpPr>
        <p:spPr>
          <a:xfrm>
            <a:off x="4370832" y="3090672"/>
            <a:ext cx="7107631" cy="621792"/>
          </a:xfrm>
          <a:prstGeom prst="rect">
            <a:avLst/>
          </a:prstGeom>
          <a:noFill/>
        </p:spPr>
        <p:txBody>
          <a:bodyPr wrap="square" lIns="0" rIns="0" tIns="0" bIns="0">
            <a:spAutoFit/>
          </a:bodyPr>
          <a:lstStyle/>
          <a:p>
            <a:pPr algn="l">
              <a:lnSpc>
                <a:spcPct val="130000"/>
              </a:lnSpc>
            </a:pPr>
            <a:r>
              <a:rPr sz="1260" b="0">
                <a:solidFill>
                  <a:srgbClr val="4B5563"/>
                </a:solidFill>
                <a:latin typeface="IBM Plex Sans"/>
              </a:rPr>
              <a:t>Rules route the evidence and deterministic code scores it. No language model is reachable from either — per-signal token cost is structurally zero.</a:t>
            </a:r>
          </a:p>
        </p:txBody>
      </p:sp>
      <p:sp>
        <p:nvSpPr>
          <p:cNvPr id="25" name="Rectangle 24"/>
          <p:cNvSpPr/>
          <p:nvPr/>
        </p:nvSpPr>
        <p:spPr>
          <a:xfrm>
            <a:off x="713232" y="3602736"/>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712464"/>
            <a:ext cx="338328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All AI cost is gathering</a:t>
            </a:r>
          </a:p>
        </p:txBody>
      </p:sp>
      <p:sp>
        <p:nvSpPr>
          <p:cNvPr id="27" name="TextBox 26"/>
          <p:cNvSpPr txBox="1"/>
          <p:nvPr/>
        </p:nvSpPr>
        <p:spPr>
          <a:xfrm>
            <a:off x="4370832" y="3712464"/>
            <a:ext cx="7107631" cy="621792"/>
          </a:xfrm>
          <a:prstGeom prst="rect">
            <a:avLst/>
          </a:prstGeom>
          <a:noFill/>
        </p:spPr>
        <p:txBody>
          <a:bodyPr wrap="square" lIns="0" rIns="0" tIns="0" bIns="0">
            <a:spAutoFit/>
          </a:bodyPr>
          <a:lstStyle/>
          <a:p>
            <a:pPr algn="l">
              <a:lnSpc>
                <a:spcPct val="130000"/>
              </a:lnSpc>
            </a:pPr>
            <a:r>
              <a:rPr sz="1260" b="0">
                <a:solidFill>
                  <a:srgbClr val="4B5563"/>
                </a:solidFill>
                <a:latin typeface="IBM Plex Sans"/>
              </a:rPr>
              <a:t>Charged per sweep of a company, not per signal. Running sweeps off-peak is an exact 50% saving.</a:t>
            </a:r>
          </a:p>
        </p:txBody>
      </p:sp>
      <p:sp>
        <p:nvSpPr>
          <p:cNvPr id="28" name="Rectangle 27"/>
          <p:cNvSpPr/>
          <p:nvPr/>
        </p:nvSpPr>
        <p:spPr>
          <a:xfrm>
            <a:off x="713232" y="4224528"/>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334256"/>
            <a:ext cx="338328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People, not tokens</a:t>
            </a:r>
          </a:p>
        </p:txBody>
      </p:sp>
      <p:sp>
        <p:nvSpPr>
          <p:cNvPr id="30" name="TextBox 29"/>
          <p:cNvSpPr txBox="1"/>
          <p:nvPr/>
        </p:nvSpPr>
        <p:spPr>
          <a:xfrm>
            <a:off x="4370832" y="4334256"/>
            <a:ext cx="7107631" cy="621792"/>
          </a:xfrm>
          <a:prstGeom prst="rect">
            <a:avLst/>
          </a:prstGeom>
          <a:noFill/>
        </p:spPr>
        <p:txBody>
          <a:bodyPr wrap="square" lIns="0" rIns="0" tIns="0" bIns="0">
            <a:spAutoFit/>
          </a:bodyPr>
          <a:lstStyle/>
          <a:p>
            <a:pPr algn="l">
              <a:lnSpc>
                <a:spcPct val="130000"/>
              </a:lnSpc>
            </a:pPr>
            <a:r>
              <a:rPr sz="1260" b="0">
                <a:solidFill>
                  <a:srgbClr val="4B5563"/>
                </a:solidFill>
                <a:latin typeface="IBM Plex Sans"/>
              </a:rPr>
              <a:t>Metadata verification is hand-done. Day rates come from live Singapore job postings — ESG analyst S$290/day — and are flagged as a floor.</a:t>
            </a:r>
          </a:p>
        </p:txBody>
      </p:sp>
      <p:sp>
        <p:nvSpPr>
          <p:cNvPr id="31" name="Rectangle 30"/>
          <p:cNvSpPr/>
          <p:nvPr/>
        </p:nvSpPr>
        <p:spPr>
          <a:xfrm>
            <a:off x="713232" y="4846320"/>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956048"/>
            <a:ext cx="338328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Pilot: S$34,965 people cost</a:t>
            </a:r>
          </a:p>
        </p:txBody>
      </p:sp>
      <p:sp>
        <p:nvSpPr>
          <p:cNvPr id="33" name="TextBox 32"/>
          <p:cNvSpPr txBox="1"/>
          <p:nvPr/>
        </p:nvSpPr>
        <p:spPr>
          <a:xfrm>
            <a:off x="4370832" y="4956048"/>
            <a:ext cx="7107631" cy="621792"/>
          </a:xfrm>
          <a:prstGeom prst="rect">
            <a:avLst/>
          </a:prstGeom>
          <a:noFill/>
        </p:spPr>
        <p:txBody>
          <a:bodyPr wrap="square" lIns="0" rIns="0" tIns="0" bIns="0">
            <a:spAutoFit/>
          </a:bodyPr>
          <a:lstStyle/>
          <a:p>
            <a:pPr algn="l">
              <a:lnSpc>
                <a:spcPct val="130000"/>
              </a:lnSpc>
            </a:pPr>
            <a:r>
              <a:rPr sz="1260" b="0">
                <a:solidFill>
                  <a:srgbClr val="4B5563"/>
                </a:solidFill>
                <a:latin typeface="IBM Plex Sans"/>
              </a:rPr>
              <a:t>The pilot total is stamped INCOMPLETE, because the data licence and compliance lines are still blank.</a:t>
            </a:r>
          </a:p>
        </p:txBody>
      </p:sp>
      <p:sp>
        <p:nvSpPr>
          <p:cNvPr id="34" name="Rectangle 33"/>
          <p:cNvSpPr/>
          <p:nvPr/>
        </p:nvSpPr>
        <p:spPr>
          <a:xfrm>
            <a:off x="713232" y="5468112"/>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 y="5541264"/>
            <a:ext cx="31750" cy="566928"/>
          </a:xfrm>
          <a:prstGeom prst="rect">
            <a:avLst/>
          </a:prstGeom>
          <a:solidFill>
            <a:srgbClr val="8A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7824" y="5559551"/>
            <a:ext cx="10399471" cy="566928"/>
          </a:xfrm>
          <a:prstGeom prst="rect">
            <a:avLst/>
          </a:prstGeom>
          <a:noFill/>
        </p:spPr>
        <p:txBody>
          <a:bodyPr wrap="square" lIns="0" rIns="0" tIns="0" bIns="0">
            <a:spAutoFit/>
          </a:bodyPr>
          <a:lstStyle/>
          <a:p>
            <a:pPr algn="l">
              <a:lnSpc>
                <a:spcPct val="134000"/>
              </a:lnSpc>
            </a:pPr>
            <a:r>
              <a:rPr sz="1150" b="1">
                <a:solidFill>
                  <a:srgbClr val="8A1C1C"/>
                </a:solidFill>
                <a:latin typeface="IBM Plex Sans"/>
              </a:rPr>
              <a:t>No falling cost-per-company curve until a licence quote exists. </a:t>
            </a:r>
            <a:r>
              <a:rPr sz="1150" b="0">
                <a:solidFill>
                  <a:srgbClr val="4B5563"/>
                </a:solidFill>
                <a:latin typeface="IBM Plex Sans"/>
              </a:rPr>
              <a:t>Inference is linear in companies, so on this cost alone that line is flat. Two inputs are on the slide as blanks: a baseline-data licence quote, and one timed batch of ten companies.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08</a:t>
            </a:r>
            <a:r>
              <a:rPr sz="1000" b="0" spc="100">
                <a:solidFill>
                  <a:srgbClr val="B6BEC4"/>
                </a:solidFill>
                <a:latin typeface="IBM Plex Mono"/>
              </a:rPr>
              <a:t>   /   </a:t>
            </a:r>
            <a:r>
              <a:rPr sz="1000" b="1" spc="130">
                <a:solidFill>
                  <a:srgbClr val="12151A"/>
                </a:solidFill>
                <a:latin typeface="IBM Plex Sans"/>
              </a:rPr>
              <a:t>DOWN TO EARTH</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Green-bond and traction thresholds are ours — team-designed, never confirmed by the CGSI panel — and every surface says so.</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08</a:t>
            </a:r>
          </a:p>
        </p:txBody>
      </p:sp>
      <p:sp>
        <p:nvSpPr>
          <p:cNvPr id="9" name="TextBox 8"/>
          <p:cNvSpPr txBox="1"/>
          <p:nvPr/>
        </p:nvSpPr>
        <p:spPr>
          <a:xfrm>
            <a:off x="713232" y="914400"/>
            <a:ext cx="10765231" cy="913568"/>
          </a:xfrm>
          <a:prstGeom prst="rect">
            <a:avLst/>
          </a:prstGeom>
          <a:noFill/>
        </p:spPr>
        <p:txBody>
          <a:bodyPr wrap="square" lIns="0" rIns="0" tIns="0" bIns="0">
            <a:spAutoFit/>
          </a:bodyPr>
          <a:lstStyle/>
          <a:p>
            <a:pPr algn="l">
              <a:lnSpc>
                <a:spcPct val="100000"/>
              </a:lnSpc>
            </a:pPr>
            <a:r>
              <a:rPr sz="4600" b="1" spc="-55">
                <a:solidFill>
                  <a:srgbClr val="12151A"/>
                </a:solidFill>
                <a:latin typeface="IBM Plex Sans Condensed"/>
              </a:rPr>
              <a:t>What it does </a:t>
            </a:r>
            <a:r>
              <a:rPr sz="4600" b="1" spc="-55">
                <a:solidFill>
                  <a:srgbClr val="8A1C1C"/>
                </a:solidFill>
                <a:latin typeface="IBM Plex Sans Condensed"/>
              </a:rPr>
              <a:t>not</a:t>
            </a:r>
            <a:r>
              <a:rPr sz="4600" b="1" spc="-55">
                <a:solidFill>
                  <a:srgbClr val="12151A"/>
                </a:solidFill>
                <a:latin typeface="IBM Plex Sans Condensed"/>
              </a:rPr>
              <a:t> do.</a:t>
            </a:r>
          </a:p>
        </p:txBody>
      </p:sp>
      <p:sp>
        <p:nvSpPr>
          <p:cNvPr id="10" name="TextBox 9"/>
          <p:cNvSpPr txBox="1"/>
          <p:nvPr/>
        </p:nvSpPr>
        <p:spPr>
          <a:xfrm>
            <a:off x="713232" y="1627632"/>
            <a:ext cx="9692640" cy="914400"/>
          </a:xfrm>
          <a:prstGeom prst="rect">
            <a:avLst/>
          </a:prstGeom>
          <a:noFill/>
        </p:spPr>
        <p:txBody>
          <a:bodyPr wrap="square" lIns="0" rIns="0" tIns="0" bIns="0">
            <a:spAutoFit/>
          </a:bodyPr>
          <a:lstStyle/>
          <a:p>
            <a:pPr algn="l">
              <a:lnSpc>
                <a:spcPct val="136000"/>
              </a:lnSpc>
            </a:pPr>
            <a:r>
              <a:rPr sz="1550" b="0">
                <a:solidFill>
                  <a:srgbClr val="4B5563"/>
                </a:solidFill>
                <a:latin typeface="IBM Plex Sans"/>
              </a:rPr>
              <a:t>On the slide, before anyone has to ask.</a:t>
            </a:r>
          </a:p>
        </p:txBody>
      </p:sp>
      <p:sp>
        <p:nvSpPr>
          <p:cNvPr id="11" name="Rectangle 10"/>
          <p:cNvSpPr/>
          <p:nvPr/>
        </p:nvSpPr>
        <p:spPr>
          <a:xfrm>
            <a:off x="713232" y="2212848"/>
            <a:ext cx="10765231" cy="1524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359152"/>
            <a:ext cx="356616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86% is self-published</a:t>
            </a:r>
          </a:p>
        </p:txBody>
      </p:sp>
      <p:sp>
        <p:nvSpPr>
          <p:cNvPr id="13" name="TextBox 12"/>
          <p:cNvSpPr txBox="1"/>
          <p:nvPr/>
        </p:nvSpPr>
        <p:spPr>
          <a:xfrm>
            <a:off x="4553712" y="2359152"/>
            <a:ext cx="6924751" cy="621792"/>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Most of what a public search returns is written by the companies themselves, and we cap how far that can ever count. That is why the top quadrant holds four names, not forty.</a:t>
            </a:r>
          </a:p>
        </p:txBody>
      </p:sp>
      <p:sp>
        <p:nvSpPr>
          <p:cNvPr id="14" name="Rectangle 13"/>
          <p:cNvSpPr/>
          <p:nvPr/>
        </p:nvSpPr>
        <p:spPr>
          <a:xfrm>
            <a:off x="713232" y="2871216"/>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980944"/>
            <a:ext cx="356616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Documentary, not telemetry</a:t>
            </a:r>
          </a:p>
        </p:txBody>
      </p:sp>
      <p:sp>
        <p:nvSpPr>
          <p:cNvPr id="16" name="TextBox 15"/>
          <p:cNvSpPr txBox="1"/>
          <p:nvPr/>
        </p:nvSpPr>
        <p:spPr>
          <a:xfrm>
            <a:off x="4553712" y="2980944"/>
            <a:ext cx="6924751" cy="621792"/>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We read filings, regulator actions, exchange notices and press. We do not meter a smokestack.</a:t>
            </a:r>
          </a:p>
        </p:txBody>
      </p:sp>
      <p:sp>
        <p:nvSpPr>
          <p:cNvPr id="17" name="Rectangle 16"/>
          <p:cNvSpPr/>
          <p:nvPr/>
        </p:nvSpPr>
        <p:spPr>
          <a:xfrm>
            <a:off x="713232" y="3493008"/>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602736"/>
            <a:ext cx="356616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2 of 52 have no evidence</a:t>
            </a:r>
          </a:p>
        </p:txBody>
      </p:sp>
      <p:sp>
        <p:nvSpPr>
          <p:cNvPr id="19" name="TextBox 18"/>
          <p:cNvSpPr txBox="1"/>
          <p:nvPr/>
        </p:nvSpPr>
        <p:spPr>
          <a:xfrm>
            <a:off x="4553712" y="3602736"/>
            <a:ext cx="6924751" cy="621792"/>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Drawn hollow on the matrix and counted. An absence of evidence is a finding, not a hole to fill.</a:t>
            </a:r>
          </a:p>
        </p:txBody>
      </p:sp>
      <p:sp>
        <p:nvSpPr>
          <p:cNvPr id="20" name="Rectangle 19"/>
          <p:cNvSpPr/>
          <p:nvPr/>
        </p:nvSpPr>
        <p:spPr>
          <a:xfrm>
            <a:off x="713232" y="4114800"/>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224528"/>
            <a:ext cx="356616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11 of 52 are financially weak</a:t>
            </a:r>
          </a:p>
        </p:txBody>
      </p:sp>
      <p:sp>
        <p:nvSpPr>
          <p:cNvPr id="22" name="TextBox 21"/>
          <p:cNvSpPr txBox="1"/>
          <p:nvPr/>
        </p:nvSpPr>
        <p:spPr>
          <a:xfrm>
            <a:off x="4553712" y="4224528"/>
            <a:ext cx="6924751" cy="621792"/>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And 2 are unreadable — reported as unknown, never marked down for our missing data.</a:t>
            </a:r>
          </a:p>
        </p:txBody>
      </p:sp>
      <p:sp>
        <p:nvSpPr>
          <p:cNvPr id="23" name="Rectangle 22"/>
          <p:cNvSpPr/>
          <p:nvPr/>
        </p:nvSpPr>
        <p:spPr>
          <a:xfrm>
            <a:off x="713232" y="4736592"/>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846320"/>
            <a:ext cx="356616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Licensed raters stay off-screen</a:t>
            </a:r>
          </a:p>
        </p:txBody>
      </p:sp>
      <p:sp>
        <p:nvSpPr>
          <p:cNvPr id="25" name="TextBox 24"/>
          <p:cNvSpPr txBox="1"/>
          <p:nvPr/>
        </p:nvSpPr>
        <p:spPr>
          <a:xfrm>
            <a:off x="4553712" y="4846320"/>
            <a:ext cx="6924751" cy="621792"/>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MSCI, S&amp;P and Sustainalytics cannot be shown — licence, not capability. LSEG is fetched live because it is the one free keyless endpoint.</a:t>
            </a:r>
          </a:p>
        </p:txBody>
      </p:sp>
      <p:sp>
        <p:nvSpPr>
          <p:cNvPr id="26" name="Rectangle 25"/>
          <p:cNvSpPr/>
          <p:nvPr/>
        </p:nvSpPr>
        <p:spPr>
          <a:xfrm>
            <a:off x="713232" y="5358383"/>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468112"/>
            <a:ext cx="3566160" cy="621792"/>
          </a:xfrm>
          <a:prstGeom prst="rect">
            <a:avLst/>
          </a:prstGeom>
          <a:noFill/>
        </p:spPr>
        <p:txBody>
          <a:bodyPr wrap="square" lIns="0" rIns="0" tIns="0" bIns="0">
            <a:spAutoFit/>
          </a:bodyPr>
          <a:lstStyle/>
          <a:p>
            <a:pPr algn="l">
              <a:lnSpc>
                <a:spcPct val="120000"/>
              </a:lnSpc>
            </a:pPr>
            <a:r>
              <a:rPr sz="1260" b="1">
                <a:solidFill>
                  <a:srgbClr val="12151A"/>
                </a:solidFill>
                <a:latin typeface="IBM Plex Sans"/>
              </a:rPr>
              <a:t>Two delisted names stay in</a:t>
            </a:r>
          </a:p>
        </p:txBody>
      </p:sp>
      <p:sp>
        <p:nvSpPr>
          <p:cNvPr id="28" name="TextBox 27"/>
          <p:cNvSpPr txBox="1"/>
          <p:nvPr/>
        </p:nvSpPr>
        <p:spPr>
          <a:xfrm>
            <a:off x="4553712" y="5468112"/>
            <a:ext cx="6924751" cy="621792"/>
          </a:xfrm>
          <a:prstGeom prst="rect">
            <a:avLst/>
          </a:prstGeom>
          <a:noFill/>
        </p:spPr>
        <p:txBody>
          <a:bodyPr wrap="square" lIns="0" rIns="0" tIns="0" bIns="0">
            <a:spAutoFit/>
          </a:bodyPr>
          <a:lstStyle/>
          <a:p>
            <a:pPr algn="l">
              <a:lnSpc>
                <a:spcPct val="130000"/>
              </a:lnSpc>
            </a:pPr>
            <a:r>
              <a:rPr sz="1220" b="0">
                <a:solidFill>
                  <a:srgbClr val="4B5563"/>
                </a:solidFill>
                <a:latin typeface="IBM Plex Sans"/>
              </a:rPr>
              <a:t>Badged, and excluded from investable output by rule. A static list going stale is the argument.</a:t>
            </a:r>
          </a:p>
        </p:txBody>
      </p:sp>
      <p:sp>
        <p:nvSpPr>
          <p:cNvPr id="29" name="Rectangle 28"/>
          <p:cNvSpPr/>
          <p:nvPr/>
        </p:nvSpPr>
        <p:spPr>
          <a:xfrm>
            <a:off x="713232" y="5980175"/>
            <a:ext cx="10765231" cy="9525"/>
          </a:xfrm>
          <a:prstGeom prst="rect">
            <a:avLst/>
          </a:prstGeom>
          <a:solidFill>
            <a:srgbClr val="EE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6400800" cy="274320"/>
          </a:xfrm>
          <a:prstGeom prst="rect">
            <a:avLst/>
          </a:prstGeom>
          <a:noFill/>
        </p:spPr>
        <p:txBody>
          <a:bodyPr wrap="square" lIns="0" rIns="0" tIns="0" bIns="0">
            <a:spAutoFit/>
          </a:bodyPr>
          <a:lstStyle/>
          <a:p>
            <a:pPr algn="l"/>
            <a:r>
              <a:rPr sz="1000" b="1" spc="100">
                <a:solidFill>
                  <a:srgbClr val="0F5132"/>
                </a:solidFill>
                <a:latin typeface="IBM Plex Mono"/>
              </a:rPr>
              <a:t>09</a:t>
            </a:r>
            <a:r>
              <a:rPr sz="1000" b="0" spc="100">
                <a:solidFill>
                  <a:srgbClr val="B6BEC4"/>
                </a:solidFill>
                <a:latin typeface="IBM Plex Mono"/>
              </a:rPr>
              <a:t>   /   </a:t>
            </a:r>
            <a:r>
              <a:rPr sz="1000" b="1" spc="130">
                <a:solidFill>
                  <a:srgbClr val="12151A"/>
                </a:solidFill>
                <a:latin typeface="IBM Plex Sans"/>
              </a:rPr>
              <a:t>CLOSE</a:t>
            </a:r>
          </a:p>
        </p:txBody>
      </p:sp>
      <p:sp>
        <p:nvSpPr>
          <p:cNvPr id="4" name="TextBox 3"/>
          <p:cNvSpPr txBox="1"/>
          <p:nvPr/>
        </p:nvSpPr>
        <p:spPr>
          <a:xfrm>
            <a:off x="5992063" y="329184"/>
            <a:ext cx="5486400" cy="274320"/>
          </a:xfrm>
          <a:prstGeom prst="rect">
            <a:avLst/>
          </a:prstGeom>
          <a:noFill/>
        </p:spPr>
        <p:txBody>
          <a:bodyPr wrap="square" lIns="0" rIns="0" tIns="0" bIns="0">
            <a:spAutoFit/>
          </a:bodyPr>
          <a:lstStyle/>
          <a:p>
            <a:pPr algn="r"/>
            <a:r>
              <a:rPr sz="950" b="0" spc="60">
                <a:solidFill>
                  <a:srgbClr val="767F89"/>
                </a:solidFill>
                <a:latin typeface="IBM Plex Mono"/>
              </a:rPr>
              <a:t>QUILL &amp; CANDLE · ESG · RUN 1FC384A2</a:t>
            </a:r>
          </a:p>
        </p:txBody>
      </p:sp>
      <p:sp>
        <p:nvSpPr>
          <p:cNvPr id="5" name="Rectangle 4"/>
          <p:cNvSpPr/>
          <p:nvPr/>
        </p:nvSpPr>
        <p:spPr>
          <a:xfrm>
            <a:off x="713232" y="64008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6163056"/>
            <a:ext cx="10765231" cy="9525"/>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272784"/>
            <a:ext cx="9942271" cy="365760"/>
          </a:xfrm>
          <a:prstGeom prst="rect">
            <a:avLst/>
          </a:prstGeom>
          <a:noFill/>
        </p:spPr>
        <p:txBody>
          <a:bodyPr wrap="square" lIns="0" rIns="0" tIns="0" bIns="0">
            <a:spAutoFit/>
          </a:bodyPr>
          <a:lstStyle/>
          <a:p>
            <a:pPr algn="l">
              <a:lnSpc>
                <a:spcPct val="130000"/>
              </a:lnSpc>
            </a:pPr>
            <a:r>
              <a:rPr sz="950" b="0">
                <a:solidFill>
                  <a:srgbClr val="767F89"/>
                </a:solidFill>
                <a:latin typeface="IBM Plex Sans"/>
              </a:rPr>
              <a:t>Every figure on this deck re-derives from run 1fc384a2fa92499d on a judge's laptop, offline. Whitepaper and deck carry the same numbers.</a:t>
            </a:r>
          </a:p>
        </p:txBody>
      </p:sp>
      <p:sp>
        <p:nvSpPr>
          <p:cNvPr id="8" name="TextBox 7"/>
          <p:cNvSpPr txBox="1"/>
          <p:nvPr/>
        </p:nvSpPr>
        <p:spPr>
          <a:xfrm>
            <a:off x="10746943" y="6272784"/>
            <a:ext cx="731520" cy="274320"/>
          </a:xfrm>
          <a:prstGeom prst="rect">
            <a:avLst/>
          </a:prstGeom>
          <a:noFill/>
        </p:spPr>
        <p:txBody>
          <a:bodyPr wrap="square" lIns="0" rIns="0" tIns="0" bIns="0">
            <a:spAutoFit/>
          </a:bodyPr>
          <a:lstStyle/>
          <a:p>
            <a:pPr algn="r"/>
            <a:r>
              <a:rPr sz="1000" b="0" spc="60">
                <a:solidFill>
                  <a:srgbClr val="767F89"/>
                </a:solidFill>
                <a:latin typeface="IBM Plex Mono"/>
              </a:rPr>
              <a:t>09</a:t>
            </a:r>
          </a:p>
        </p:txBody>
      </p:sp>
      <p:sp>
        <p:nvSpPr>
          <p:cNvPr id="9" name="TextBox 8"/>
          <p:cNvSpPr txBox="1"/>
          <p:nvPr/>
        </p:nvSpPr>
        <p:spPr>
          <a:xfrm>
            <a:off x="713232" y="914400"/>
            <a:ext cx="10765231" cy="1521229"/>
          </a:xfrm>
          <a:prstGeom prst="rect">
            <a:avLst/>
          </a:prstGeom>
          <a:noFill/>
        </p:spPr>
        <p:txBody>
          <a:bodyPr wrap="square" lIns="0" rIns="0" tIns="0" bIns="0">
            <a:spAutoFit/>
          </a:bodyPr>
          <a:lstStyle/>
          <a:p>
            <a:pPr algn="l">
              <a:lnSpc>
                <a:spcPct val="100000"/>
              </a:lnSpc>
            </a:pPr>
            <a:r>
              <a:rPr sz="4000" b="1" spc="-55">
                <a:solidFill>
                  <a:srgbClr val="12151A"/>
                </a:solidFill>
                <a:latin typeface="IBM Plex Sans Condensed"/>
              </a:rPr>
              <a:t>It never says buy or sell. It says where it </a:t>
            </a:r>
            <a:r>
              <a:rPr sz="4000" b="1" spc="-55">
                <a:solidFill>
                  <a:srgbClr val="0F5132"/>
                </a:solidFill>
                <a:latin typeface="IBM Plex Sans Condensed"/>
              </a:rPr>
              <a:t>disagrees</a:t>
            </a:r>
          </a:p>
          <a:p>
            <a:pPr algn="l">
              <a:lnSpc>
                <a:spcPct val="100000"/>
              </a:lnSpc>
            </a:pPr>
            <a:r>
              <a:rPr sz="4000" b="1" spc="-55">
                <a:solidFill>
                  <a:srgbClr val="12151A"/>
                </a:solidFill>
                <a:latin typeface="IBM Plex Sans Condensed"/>
              </a:rPr>
              <a:t>— and exactly what would change its mind.</a:t>
            </a:r>
          </a:p>
        </p:txBody>
      </p:sp>
      <p:sp>
        <p:nvSpPr>
          <p:cNvPr id="10" name="Rectangle 9"/>
          <p:cNvSpPr/>
          <p:nvPr/>
        </p:nvSpPr>
        <p:spPr>
          <a:xfrm>
            <a:off x="713232" y="3017520"/>
            <a:ext cx="10765231" cy="20320"/>
          </a:xfrm>
          <a:prstGeom prst="rect">
            <a:avLst/>
          </a:prstGeom>
          <a:solidFill>
            <a:srgbClr val="121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200400"/>
            <a:ext cx="2380411" cy="457200"/>
          </a:xfrm>
          <a:prstGeom prst="rect">
            <a:avLst/>
          </a:prstGeom>
          <a:noFill/>
        </p:spPr>
        <p:txBody>
          <a:bodyPr wrap="square" lIns="0" rIns="0" tIns="0" bIns="0">
            <a:spAutoFit/>
          </a:bodyPr>
          <a:lstStyle/>
          <a:p>
            <a:pPr algn="l"/>
            <a:r>
              <a:rPr sz="4000" b="1" spc="-40">
                <a:solidFill>
                  <a:srgbClr val="12151A"/>
                </a:solidFill>
                <a:latin typeface="IBM Plex Mono"/>
              </a:rPr>
              <a:t>52</a:t>
            </a:r>
          </a:p>
        </p:txBody>
      </p:sp>
      <p:sp>
        <p:nvSpPr>
          <p:cNvPr id="12" name="TextBox 11"/>
          <p:cNvSpPr txBox="1"/>
          <p:nvPr/>
        </p:nvSpPr>
        <p:spPr>
          <a:xfrm>
            <a:off x="713232" y="3818128"/>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ASEAN companies, one verified research basket</a:t>
            </a:r>
          </a:p>
        </p:txBody>
      </p:sp>
      <p:sp>
        <p:nvSpPr>
          <p:cNvPr id="13" name="Rectangle 12"/>
          <p:cNvSpPr/>
          <p:nvPr/>
        </p:nvSpPr>
        <p:spPr>
          <a:xfrm>
            <a:off x="3258235" y="3163824"/>
            <a:ext cx="9525" cy="97840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4539" y="3200400"/>
            <a:ext cx="2380411" cy="457200"/>
          </a:xfrm>
          <a:prstGeom prst="rect">
            <a:avLst/>
          </a:prstGeom>
          <a:noFill/>
        </p:spPr>
        <p:txBody>
          <a:bodyPr wrap="square" lIns="0" rIns="0" tIns="0" bIns="0">
            <a:spAutoFit/>
          </a:bodyPr>
          <a:lstStyle/>
          <a:p>
            <a:pPr algn="l"/>
            <a:r>
              <a:rPr sz="4000" b="1" spc="-40">
                <a:solidFill>
                  <a:srgbClr val="12151A"/>
                </a:solidFill>
                <a:latin typeface="IBM Plex Mono"/>
              </a:rPr>
              <a:t>391</a:t>
            </a:r>
          </a:p>
        </p:txBody>
      </p:sp>
      <p:sp>
        <p:nvSpPr>
          <p:cNvPr id="15" name="TextBox 14"/>
          <p:cNvSpPr txBox="1"/>
          <p:nvPr/>
        </p:nvSpPr>
        <p:spPr>
          <a:xfrm>
            <a:off x="3404539" y="3818128"/>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dated, sourced events behind the verdicts — 48 of 52 covered</a:t>
            </a:r>
          </a:p>
        </p:txBody>
      </p:sp>
      <p:sp>
        <p:nvSpPr>
          <p:cNvPr id="16" name="Rectangle 15"/>
          <p:cNvSpPr/>
          <p:nvPr/>
        </p:nvSpPr>
        <p:spPr>
          <a:xfrm>
            <a:off x="5949543" y="3163824"/>
            <a:ext cx="9525" cy="97840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5847" y="3200400"/>
            <a:ext cx="2380411" cy="457200"/>
          </a:xfrm>
          <a:prstGeom prst="rect">
            <a:avLst/>
          </a:prstGeom>
          <a:noFill/>
        </p:spPr>
        <p:txBody>
          <a:bodyPr wrap="square" lIns="0" rIns="0" tIns="0" bIns="0">
            <a:spAutoFit/>
          </a:bodyPr>
          <a:lstStyle/>
          <a:p>
            <a:pPr algn="l"/>
            <a:r>
              <a:rPr sz="4000" b="1" spc="-40">
                <a:solidFill>
                  <a:srgbClr val="12151A"/>
                </a:solidFill>
                <a:latin typeface="IBM Plex Mono"/>
              </a:rPr>
              <a:t>S$0.079</a:t>
            </a:r>
          </a:p>
        </p:txBody>
      </p:sp>
      <p:sp>
        <p:nvSpPr>
          <p:cNvPr id="18" name="TextBox 17"/>
          <p:cNvSpPr txBox="1"/>
          <p:nvPr/>
        </p:nvSpPr>
        <p:spPr>
          <a:xfrm>
            <a:off x="6095847" y="3818128"/>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AI cost per company per year, measured</a:t>
            </a:r>
          </a:p>
        </p:txBody>
      </p:sp>
      <p:sp>
        <p:nvSpPr>
          <p:cNvPr id="19" name="Rectangle 18"/>
          <p:cNvSpPr/>
          <p:nvPr/>
        </p:nvSpPr>
        <p:spPr>
          <a:xfrm>
            <a:off x="8640851" y="3163824"/>
            <a:ext cx="9525" cy="978408"/>
          </a:xfrm>
          <a:prstGeom prst="rect">
            <a:avLst/>
          </a:prstGeom>
          <a:solidFill>
            <a:srgbClr val="DF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7155" y="3200400"/>
            <a:ext cx="2380411" cy="457200"/>
          </a:xfrm>
          <a:prstGeom prst="rect">
            <a:avLst/>
          </a:prstGeom>
          <a:noFill/>
        </p:spPr>
        <p:txBody>
          <a:bodyPr wrap="square" lIns="0" rIns="0" tIns="0" bIns="0">
            <a:spAutoFit/>
          </a:bodyPr>
          <a:lstStyle/>
          <a:p>
            <a:pPr algn="l"/>
            <a:r>
              <a:rPr sz="4000" b="1" spc="-40">
                <a:solidFill>
                  <a:srgbClr val="1A7F4F"/>
                </a:solidFill>
                <a:latin typeface="IBM Plex Mono"/>
              </a:rPr>
              <a:t>0</a:t>
            </a:r>
          </a:p>
        </p:txBody>
      </p:sp>
      <p:sp>
        <p:nvSpPr>
          <p:cNvPr id="21" name="TextBox 20"/>
          <p:cNvSpPr txBox="1"/>
          <p:nvPr/>
        </p:nvSpPr>
        <p:spPr>
          <a:xfrm>
            <a:off x="8787155" y="3818128"/>
            <a:ext cx="2380411" cy="548640"/>
          </a:xfrm>
          <a:prstGeom prst="rect">
            <a:avLst/>
          </a:prstGeom>
          <a:noFill/>
        </p:spPr>
        <p:txBody>
          <a:bodyPr wrap="square" lIns="0" rIns="0" tIns="0" bIns="0">
            <a:spAutoFit/>
          </a:bodyPr>
          <a:lstStyle/>
          <a:p>
            <a:pPr algn="l">
              <a:lnSpc>
                <a:spcPct val="128000"/>
              </a:lnSpc>
            </a:pPr>
            <a:r>
              <a:rPr sz="1050" b="0">
                <a:solidFill>
                  <a:srgbClr val="4B5563"/>
                </a:solidFill>
                <a:latin typeface="IBM Plex Sans"/>
              </a:rPr>
              <a:t>thresholds moved to produce our list</a:t>
            </a:r>
          </a:p>
        </p:txBody>
      </p:sp>
      <p:sp>
        <p:nvSpPr>
          <p:cNvPr id="22" name="Rectangle 21"/>
          <p:cNvSpPr/>
          <p:nvPr/>
        </p:nvSpPr>
        <p:spPr>
          <a:xfrm>
            <a:off x="713232" y="4937760"/>
            <a:ext cx="38100" cy="841248"/>
          </a:xfrm>
          <a:prstGeom prst="rect">
            <a:avLst/>
          </a:prstGeom>
          <a:solidFill>
            <a:srgbClr val="0F5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4937760"/>
            <a:ext cx="10216591" cy="914400"/>
          </a:xfrm>
          <a:prstGeom prst="rect">
            <a:avLst/>
          </a:prstGeom>
          <a:noFill/>
        </p:spPr>
        <p:txBody>
          <a:bodyPr wrap="square" lIns="0" rIns="0" tIns="0" bIns="0">
            <a:spAutoFit/>
          </a:bodyPr>
          <a:lstStyle/>
          <a:p>
            <a:pPr algn="l">
              <a:lnSpc>
                <a:spcPct val="134000"/>
              </a:lnSpc>
            </a:pPr>
            <a:r>
              <a:rPr sz="1550" b="0">
                <a:solidFill>
                  <a:srgbClr val="4B5563"/>
                </a:solidFill>
                <a:latin typeface="IBM Plex Sans"/>
              </a:rPr>
              <a:t>The bar was fixed before the evidence existed, and the quadrant filled because we found better sources — not a smaller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ASEAN ESG Momentum Radar — a second opinion on every ESG rating in ASEAN</dc:title>
  <dc:subject/>
  <dc:creator>Quill &amp; Candle</dc:creator>
  <cp:keywords/>
  <dc:description>Every figure derives from engine run 1fc384a2fa92499d. Script and source table: docs/pitch/slides.md</dc:description>
  <cp:lastModifiedBy>Steve Canny</cp:lastModifiedBy>
  <cp:revision>1</cp:revision>
  <dcterms:created xsi:type="dcterms:W3CDTF">2013-01-27T09:14:16Z</dcterms:created>
  <dcterms:modified xsi:type="dcterms:W3CDTF">2013-01-27T09:15:58Z</dcterms:modified>
  <cp:category/>
</cp:coreProperties>
</file>